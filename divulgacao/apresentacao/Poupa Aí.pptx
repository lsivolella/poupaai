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10287000" cx="18288000"/>
  <p:notesSz cx="6858000" cy="9144000"/>
  <p:embeddedFontLst>
    <p:embeddedFont>
      <p:font typeface="Poppins"/>
      <p:regular r:id="rId15"/>
      <p:bold r:id="rId16"/>
      <p:italic r:id="rId17"/>
      <p:boldItalic r:id="rId18"/>
    </p:embeddedFont>
    <p:embeddedFont>
      <p:font typeface="Poppins Black"/>
      <p:bold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Black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oppins-regular.fntdata"/><Relationship Id="rId14" Type="http://schemas.openxmlformats.org/officeDocument/2006/relationships/slide" Target="slides/slide9.xml"/><Relationship Id="rId17" Type="http://schemas.openxmlformats.org/officeDocument/2006/relationships/font" Target="fonts/Poppins-italic.fntdata"/><Relationship Id="rId16" Type="http://schemas.openxmlformats.org/officeDocument/2006/relationships/font" Target="fonts/Poppins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PoppinsBlack-bold.fntdata"/><Relationship Id="rId6" Type="http://schemas.openxmlformats.org/officeDocument/2006/relationships/slide" Target="slides/slide1.xml"/><Relationship Id="rId18" Type="http://schemas.openxmlformats.org/officeDocument/2006/relationships/font" Target="fonts/Poppins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7" name="Google Shape;87;p1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3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4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5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6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6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a5e47426a5_0_9:notes"/>
          <p:cNvSpPr txBox="1"/>
          <p:nvPr>
            <p:ph idx="1" type="body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g3a5e47426a5_0_9:notes"/>
          <p:cNvSpPr/>
          <p:nvPr>
            <p:ph idx="2" type="sldImg"/>
          </p:nvPr>
        </p:nvSpPr>
        <p:spPr>
          <a:xfrm>
            <a:off x="2857500" y="512763"/>
            <a:ext cx="3429000" cy="256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a5e47426a5_0_60:notes"/>
          <p:cNvSpPr txBox="1"/>
          <p:nvPr>
            <p:ph idx="1" type="body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g3a5e47426a5_0_60:notes"/>
          <p:cNvSpPr/>
          <p:nvPr>
            <p:ph idx="2" type="sldImg"/>
          </p:nvPr>
        </p:nvSpPr>
        <p:spPr>
          <a:xfrm>
            <a:off x="2857500" y="512763"/>
            <a:ext cx="3429000" cy="256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7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7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5.png"/><Relationship Id="rId9" Type="http://schemas.openxmlformats.org/officeDocument/2006/relationships/image" Target="../media/image23.pn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3.jpg"/><Relationship Id="rId4" Type="http://schemas.openxmlformats.org/officeDocument/2006/relationships/image" Target="../media/image10.png"/><Relationship Id="rId11" Type="http://schemas.openxmlformats.org/officeDocument/2006/relationships/image" Target="../media/image21.png"/><Relationship Id="rId10" Type="http://schemas.openxmlformats.org/officeDocument/2006/relationships/image" Target="../media/image9.png"/><Relationship Id="rId9" Type="http://schemas.openxmlformats.org/officeDocument/2006/relationships/image" Target="../media/image8.png"/><Relationship Id="rId5" Type="http://schemas.openxmlformats.org/officeDocument/2006/relationships/image" Target="../media/image16.png"/><Relationship Id="rId6" Type="http://schemas.openxmlformats.org/officeDocument/2006/relationships/image" Target="../media/image12.png"/><Relationship Id="rId7" Type="http://schemas.openxmlformats.org/officeDocument/2006/relationships/image" Target="../media/image1.png"/><Relationship Id="rId8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2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2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7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Relationship Id="rId6" Type="http://schemas.openxmlformats.org/officeDocument/2006/relationships/image" Target="../media/image10.png"/><Relationship Id="rId7" Type="http://schemas.openxmlformats.org/officeDocument/2006/relationships/image" Target="../media/image2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0.jpg"/><Relationship Id="rId4" Type="http://schemas.openxmlformats.org/officeDocument/2006/relationships/image" Target="../media/image27.jpg"/><Relationship Id="rId9" Type="http://schemas.openxmlformats.org/officeDocument/2006/relationships/image" Target="../media/image21.png"/><Relationship Id="rId5" Type="http://schemas.openxmlformats.org/officeDocument/2006/relationships/image" Target="../media/image34.jpg"/><Relationship Id="rId6" Type="http://schemas.openxmlformats.org/officeDocument/2006/relationships/image" Target="../media/image35.jpg"/><Relationship Id="rId7" Type="http://schemas.openxmlformats.org/officeDocument/2006/relationships/image" Target="../media/image12.png"/><Relationship Id="rId8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png"/><Relationship Id="rId4" Type="http://schemas.openxmlformats.org/officeDocument/2006/relationships/image" Target="../media/image12.png"/><Relationship Id="rId10" Type="http://schemas.openxmlformats.org/officeDocument/2006/relationships/image" Target="../media/image36.png"/><Relationship Id="rId9" Type="http://schemas.openxmlformats.org/officeDocument/2006/relationships/image" Target="../media/image21.png"/><Relationship Id="rId5" Type="http://schemas.openxmlformats.org/officeDocument/2006/relationships/image" Target="../media/image10.png"/><Relationship Id="rId6" Type="http://schemas.openxmlformats.org/officeDocument/2006/relationships/image" Target="../media/image26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4.jp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21.png"/><Relationship Id="rId7" Type="http://schemas.openxmlformats.org/officeDocument/2006/relationships/image" Target="../media/image3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Relationship Id="rId4" Type="http://schemas.openxmlformats.org/officeDocument/2006/relationships/image" Target="../media/image39.jpg"/><Relationship Id="rId5" Type="http://schemas.openxmlformats.org/officeDocument/2006/relationships/image" Target="../media/image12.png"/><Relationship Id="rId6" Type="http://schemas.openxmlformats.org/officeDocument/2006/relationships/image" Target="../media/image1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728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/>
          <p:nvPr/>
        </p:nvSpPr>
        <p:spPr>
          <a:xfrm rot="-607158">
            <a:off x="2737357" y="7575983"/>
            <a:ext cx="9101962" cy="7711844"/>
          </a:xfrm>
          <a:custGeom>
            <a:rect b="b" l="l" r="r" t="t"/>
            <a:pathLst>
              <a:path extrusionOk="0" h="7711844" w="9101962">
                <a:moveTo>
                  <a:pt x="0" y="0"/>
                </a:moveTo>
                <a:lnTo>
                  <a:pt x="9101962" y="0"/>
                </a:lnTo>
                <a:lnTo>
                  <a:pt x="9101962" y="7711844"/>
                </a:lnTo>
                <a:lnTo>
                  <a:pt x="0" y="77118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3" name="Google Shape;93;p13"/>
          <p:cNvSpPr/>
          <p:nvPr/>
        </p:nvSpPr>
        <p:spPr>
          <a:xfrm rot="-2359346">
            <a:off x="9666891" y="1945896"/>
            <a:ext cx="12609494" cy="10683680"/>
          </a:xfrm>
          <a:custGeom>
            <a:rect b="b" l="l" r="r" t="t"/>
            <a:pathLst>
              <a:path extrusionOk="0" h="10683680" w="12609494">
                <a:moveTo>
                  <a:pt x="0" y="0"/>
                </a:moveTo>
                <a:lnTo>
                  <a:pt x="12609494" y="0"/>
                </a:lnTo>
                <a:lnTo>
                  <a:pt x="12609494" y="10683681"/>
                </a:lnTo>
                <a:lnTo>
                  <a:pt x="0" y="106836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4" name="Google Shape;94;p13"/>
          <p:cNvSpPr/>
          <p:nvPr/>
        </p:nvSpPr>
        <p:spPr>
          <a:xfrm>
            <a:off x="11006330" y="7709159"/>
            <a:ext cx="1668856" cy="1668856"/>
          </a:xfrm>
          <a:custGeom>
            <a:rect b="b" l="l" r="r" t="t"/>
            <a:pathLst>
              <a:path extrusionOk="0" h="1668856" w="1668856">
                <a:moveTo>
                  <a:pt x="0" y="0"/>
                </a:moveTo>
                <a:lnTo>
                  <a:pt x="1668857" y="0"/>
                </a:lnTo>
                <a:lnTo>
                  <a:pt x="1668857" y="1668857"/>
                </a:lnTo>
                <a:lnTo>
                  <a:pt x="0" y="166885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5" name="Google Shape;95;p13"/>
          <p:cNvSpPr/>
          <p:nvPr/>
        </p:nvSpPr>
        <p:spPr>
          <a:xfrm>
            <a:off x="14508072" y="4902425"/>
            <a:ext cx="2640215" cy="2640215"/>
          </a:xfrm>
          <a:custGeom>
            <a:rect b="b" l="l" r="r" t="t"/>
            <a:pathLst>
              <a:path extrusionOk="0" h="2640215" w="2640215">
                <a:moveTo>
                  <a:pt x="0" y="0"/>
                </a:moveTo>
                <a:lnTo>
                  <a:pt x="2640216" y="0"/>
                </a:lnTo>
                <a:lnTo>
                  <a:pt x="2640216" y="2640215"/>
                </a:lnTo>
                <a:lnTo>
                  <a:pt x="0" y="26402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6" name="Google Shape;96;p13"/>
          <p:cNvSpPr/>
          <p:nvPr/>
        </p:nvSpPr>
        <p:spPr>
          <a:xfrm>
            <a:off x="12446004" y="7542640"/>
            <a:ext cx="2395802" cy="2395802"/>
          </a:xfrm>
          <a:custGeom>
            <a:rect b="b" l="l" r="r" t="t"/>
            <a:pathLst>
              <a:path extrusionOk="0" h="2395802" w="2395802">
                <a:moveTo>
                  <a:pt x="0" y="0"/>
                </a:moveTo>
                <a:lnTo>
                  <a:pt x="2395802" y="0"/>
                </a:lnTo>
                <a:lnTo>
                  <a:pt x="2395802" y="2395802"/>
                </a:lnTo>
                <a:lnTo>
                  <a:pt x="0" y="2395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7" name="Google Shape;97;p13"/>
          <p:cNvSpPr/>
          <p:nvPr/>
        </p:nvSpPr>
        <p:spPr>
          <a:xfrm rot="983857">
            <a:off x="-4214671" y="-4339374"/>
            <a:ext cx="9567485" cy="9567485"/>
          </a:xfrm>
          <a:custGeom>
            <a:rect b="b" l="l" r="r" t="t"/>
            <a:pathLst>
              <a:path extrusionOk="0" h="9560765" w="9560765">
                <a:moveTo>
                  <a:pt x="0" y="0"/>
                </a:moveTo>
                <a:lnTo>
                  <a:pt x="9560765" y="0"/>
                </a:lnTo>
                <a:lnTo>
                  <a:pt x="9560765" y="9560766"/>
                </a:lnTo>
                <a:lnTo>
                  <a:pt x="0" y="95607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98" name="Google Shape;98;p13"/>
          <p:cNvGrpSpPr/>
          <p:nvPr/>
        </p:nvGrpSpPr>
        <p:grpSpPr>
          <a:xfrm>
            <a:off x="1305839" y="2905039"/>
            <a:ext cx="3461359" cy="863031"/>
            <a:chOff x="0" y="-38100"/>
            <a:chExt cx="2384981" cy="594654"/>
          </a:xfrm>
        </p:grpSpPr>
        <p:sp>
          <p:nvSpPr>
            <p:cNvPr id="99" name="Google Shape;99;p13"/>
            <p:cNvSpPr/>
            <p:nvPr/>
          </p:nvSpPr>
          <p:spPr>
            <a:xfrm>
              <a:off x="0" y="0"/>
              <a:ext cx="2384981" cy="556554"/>
            </a:xfrm>
            <a:custGeom>
              <a:rect b="b" l="l" r="r" t="t"/>
              <a:pathLst>
                <a:path extrusionOk="0" h="556554" w="2384981">
                  <a:moveTo>
                    <a:pt x="2181781" y="0"/>
                  </a:moveTo>
                  <a:cubicBezTo>
                    <a:pt x="2294005" y="0"/>
                    <a:pt x="2384981" y="124589"/>
                    <a:pt x="2384981" y="278277"/>
                  </a:cubicBezTo>
                  <a:cubicBezTo>
                    <a:pt x="2384981" y="431965"/>
                    <a:pt x="2294005" y="556554"/>
                    <a:pt x="2181781" y="556554"/>
                  </a:cubicBezTo>
                  <a:lnTo>
                    <a:pt x="203200" y="556554"/>
                  </a:lnTo>
                  <a:cubicBezTo>
                    <a:pt x="90976" y="556554"/>
                    <a:pt x="0" y="431965"/>
                    <a:pt x="0" y="278277"/>
                  </a:cubicBezTo>
                  <a:cubicBezTo>
                    <a:pt x="0" y="12458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3"/>
            <p:cNvSpPr txBox="1"/>
            <p:nvPr/>
          </p:nvSpPr>
          <p:spPr>
            <a:xfrm>
              <a:off x="0" y="-38100"/>
              <a:ext cx="2384981" cy="5946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13"/>
          <p:cNvGrpSpPr/>
          <p:nvPr/>
        </p:nvGrpSpPr>
        <p:grpSpPr>
          <a:xfrm>
            <a:off x="1305839" y="6254132"/>
            <a:ext cx="3342076" cy="1072533"/>
            <a:chOff x="0" y="-38100"/>
            <a:chExt cx="1385087" cy="444500"/>
          </a:xfrm>
        </p:grpSpPr>
        <p:sp>
          <p:nvSpPr>
            <p:cNvPr id="102" name="Google Shape;102;p13"/>
            <p:cNvSpPr/>
            <p:nvPr/>
          </p:nvSpPr>
          <p:spPr>
            <a:xfrm>
              <a:off x="0" y="0"/>
              <a:ext cx="1385087" cy="406400"/>
            </a:xfrm>
            <a:custGeom>
              <a:rect b="b" l="l" r="r" t="t"/>
              <a:pathLst>
                <a:path extrusionOk="0" h="406400" w="1385087">
                  <a:moveTo>
                    <a:pt x="1181887" y="0"/>
                  </a:moveTo>
                  <a:cubicBezTo>
                    <a:pt x="1294111" y="0"/>
                    <a:pt x="1385087" y="90976"/>
                    <a:pt x="1385087" y="203200"/>
                  </a:cubicBezTo>
                  <a:cubicBezTo>
                    <a:pt x="1385087" y="315424"/>
                    <a:pt x="1294111" y="406400"/>
                    <a:pt x="1181887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3"/>
            <p:cNvSpPr txBox="1"/>
            <p:nvPr/>
          </p:nvSpPr>
          <p:spPr>
            <a:xfrm>
              <a:off x="0" y="-38100"/>
              <a:ext cx="1385087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4" name="Google Shape;104;p13"/>
          <p:cNvGrpSpPr/>
          <p:nvPr/>
        </p:nvGrpSpPr>
        <p:grpSpPr>
          <a:xfrm>
            <a:off x="1473445" y="6499994"/>
            <a:ext cx="672741" cy="672741"/>
            <a:chOff x="0" y="0"/>
            <a:chExt cx="812800" cy="812800"/>
          </a:xfrm>
        </p:grpSpPr>
        <p:sp>
          <p:nvSpPr>
            <p:cNvPr id="105" name="Google Shape;105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37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7" name="Google Shape;107;p13"/>
          <p:cNvSpPr/>
          <p:nvPr/>
        </p:nvSpPr>
        <p:spPr>
          <a:xfrm>
            <a:off x="1673472" y="6700021"/>
            <a:ext cx="272687" cy="272687"/>
          </a:xfrm>
          <a:custGeom>
            <a:rect b="b" l="l" r="r" t="t"/>
            <a:pathLst>
              <a:path extrusionOk="0" h="272687" w="272687">
                <a:moveTo>
                  <a:pt x="0" y="0"/>
                </a:moveTo>
                <a:lnTo>
                  <a:pt x="272687" y="0"/>
                </a:lnTo>
                <a:lnTo>
                  <a:pt x="272687" y="272687"/>
                </a:lnTo>
                <a:lnTo>
                  <a:pt x="0" y="27268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8" name="Google Shape;108;p13"/>
          <p:cNvSpPr/>
          <p:nvPr/>
        </p:nvSpPr>
        <p:spPr>
          <a:xfrm>
            <a:off x="11062408" y="1835889"/>
            <a:ext cx="6196892" cy="7279755"/>
          </a:xfrm>
          <a:custGeom>
            <a:rect b="b" l="l" r="r" t="t"/>
            <a:pathLst>
              <a:path extrusionOk="0" h="7279755" w="6196892">
                <a:moveTo>
                  <a:pt x="0" y="0"/>
                </a:moveTo>
                <a:lnTo>
                  <a:pt x="6196892" y="0"/>
                </a:lnTo>
                <a:lnTo>
                  <a:pt x="6196892" y="7279755"/>
                </a:lnTo>
                <a:lnTo>
                  <a:pt x="0" y="72797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9" name="Google Shape;109;p13"/>
          <p:cNvGrpSpPr/>
          <p:nvPr/>
        </p:nvGrpSpPr>
        <p:grpSpPr>
          <a:xfrm>
            <a:off x="8289052" y="3482733"/>
            <a:ext cx="2334090" cy="2334090"/>
            <a:chOff x="0" y="0"/>
            <a:chExt cx="812800" cy="812800"/>
          </a:xfrm>
        </p:grpSpPr>
        <p:sp>
          <p:nvSpPr>
            <p:cNvPr id="110" name="Google Shape;110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p13"/>
          <p:cNvSpPr/>
          <p:nvPr/>
        </p:nvSpPr>
        <p:spPr>
          <a:xfrm>
            <a:off x="8468493" y="3662173"/>
            <a:ext cx="1975209" cy="1975209"/>
          </a:xfrm>
          <a:custGeom>
            <a:rect b="b" l="l" r="r" t="t"/>
            <a:pathLst>
              <a:path extrusionOk="0"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3"/>
          <p:cNvSpPr/>
          <p:nvPr/>
        </p:nvSpPr>
        <p:spPr>
          <a:xfrm>
            <a:off x="16727875" y="8680588"/>
            <a:ext cx="1394855" cy="1394855"/>
          </a:xfrm>
          <a:custGeom>
            <a:rect b="b" l="l" r="r" t="t"/>
            <a:pathLst>
              <a:path extrusionOk="0" h="1394855" w="1394855">
                <a:moveTo>
                  <a:pt x="0" y="0"/>
                </a:moveTo>
                <a:lnTo>
                  <a:pt x="1394855" y="0"/>
                </a:lnTo>
                <a:lnTo>
                  <a:pt x="1394855" y="1394855"/>
                </a:lnTo>
                <a:lnTo>
                  <a:pt x="0" y="13948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4" name="Google Shape;114;p13"/>
          <p:cNvSpPr txBox="1"/>
          <p:nvPr/>
        </p:nvSpPr>
        <p:spPr>
          <a:xfrm>
            <a:off x="1305839" y="3321549"/>
            <a:ext cx="8278791" cy="2154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38" u="none" cap="none" strike="noStrike">
                <a:solidFill>
                  <a:srgbClr val="FFFFFF"/>
                </a:solidFill>
                <a:latin typeface="Poppins Black"/>
                <a:ea typeface="Poppins Black"/>
                <a:cs typeface="Poppins Black"/>
                <a:sym typeface="Poppins Black"/>
              </a:rPr>
              <a:t>Poupa</a:t>
            </a:r>
            <a:r>
              <a:rPr b="1" i="0" lang="en-US" sz="11938" u="none" cap="none" strike="noStrike">
                <a:solidFill>
                  <a:srgbClr val="BBD106"/>
                </a:solidFill>
                <a:latin typeface="Poppins Black"/>
                <a:ea typeface="Poppins Black"/>
                <a:cs typeface="Poppins Black"/>
                <a:sym typeface="Poppins Black"/>
              </a:rPr>
              <a:t>Aí</a:t>
            </a:r>
            <a:endParaRPr/>
          </a:p>
        </p:txBody>
      </p:sp>
      <p:sp>
        <p:nvSpPr>
          <p:cNvPr id="115" name="Google Shape;115;p13"/>
          <p:cNvSpPr txBox="1"/>
          <p:nvPr/>
        </p:nvSpPr>
        <p:spPr>
          <a:xfrm>
            <a:off x="1447618" y="5468208"/>
            <a:ext cx="733443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TRANSFORMANDO A SUA EXPERIÊNCIA 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EM SUPERMERCADOS</a:t>
            </a:r>
            <a:endParaRPr/>
          </a:p>
        </p:txBody>
      </p:sp>
      <p:sp>
        <p:nvSpPr>
          <p:cNvPr id="116" name="Google Shape;116;p13"/>
          <p:cNvSpPr txBox="1"/>
          <p:nvPr/>
        </p:nvSpPr>
        <p:spPr>
          <a:xfrm>
            <a:off x="1350182" y="3089861"/>
            <a:ext cx="3297732" cy="5594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3728"/>
                </a:solidFill>
                <a:latin typeface="Poppins"/>
                <a:ea typeface="Poppins"/>
                <a:cs typeface="Poppins"/>
                <a:sym typeface="Poppins"/>
              </a:rPr>
              <a:t>TRABALHO INTERDISCIPLINAR: APLICAÇÕES WEB</a:t>
            </a:r>
            <a:endParaRPr/>
          </a:p>
        </p:txBody>
      </p:sp>
      <p:sp>
        <p:nvSpPr>
          <p:cNvPr id="117" name="Google Shape;117;p13"/>
          <p:cNvSpPr txBox="1"/>
          <p:nvPr/>
        </p:nvSpPr>
        <p:spPr>
          <a:xfrm>
            <a:off x="2376958" y="6609018"/>
            <a:ext cx="1968394" cy="4079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12" u="none" cap="none" strike="noStrike">
                <a:solidFill>
                  <a:srgbClr val="003728"/>
                </a:solidFill>
                <a:latin typeface="Poppins"/>
                <a:ea typeface="Poppins"/>
                <a:cs typeface="Poppins"/>
                <a:sym typeface="Poppins"/>
              </a:rPr>
              <a:t>Integrantes</a:t>
            </a:r>
            <a:endParaRPr/>
          </a:p>
        </p:txBody>
      </p:sp>
      <p:sp>
        <p:nvSpPr>
          <p:cNvPr id="118" name="Google Shape;118;p13"/>
          <p:cNvSpPr txBox="1"/>
          <p:nvPr/>
        </p:nvSpPr>
        <p:spPr>
          <a:xfrm>
            <a:off x="1305839" y="7593965"/>
            <a:ext cx="4503416" cy="16643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Bernardo Duarte Medeiros de Paula</a:t>
            </a:r>
            <a:endParaRPr/>
          </a:p>
          <a:p>
            <a:pPr indent="0" lvl="0" marL="0" marR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Bruna Pedrosa Nunes</a:t>
            </a:r>
            <a:endParaRPr/>
          </a:p>
          <a:p>
            <a:pPr indent="0" lvl="0" marL="0" marR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Lucas Gonçalves Sivolella</a:t>
            </a:r>
            <a:endParaRPr/>
          </a:p>
          <a:p>
            <a:pPr indent="0" lvl="0" marL="0" marR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Plínio Ângelo Ferreira</a:t>
            </a:r>
            <a:endParaRPr/>
          </a:p>
          <a:p>
            <a:pPr indent="0" lvl="0" marL="0" marR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Sofia Ferreira Costa</a:t>
            </a:r>
            <a:endParaRPr/>
          </a:p>
          <a:p>
            <a:pPr indent="0" lvl="0" marL="0" marR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Vinicius Ramos Sales</a:t>
            </a:r>
            <a:endParaRPr/>
          </a:p>
        </p:txBody>
      </p:sp>
      <p:pic>
        <p:nvPicPr>
          <p:cNvPr id="119" name="Google Shape;119;p13" title="logo-branco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75397" y="504357"/>
            <a:ext cx="1668851" cy="9096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4"/>
          <p:cNvSpPr txBox="1"/>
          <p:nvPr/>
        </p:nvSpPr>
        <p:spPr>
          <a:xfrm>
            <a:off x="15203714" y="9587702"/>
            <a:ext cx="2470802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25" name="Google Shape;125;p14"/>
          <p:cNvSpPr/>
          <p:nvPr/>
        </p:nvSpPr>
        <p:spPr>
          <a:xfrm>
            <a:off x="968381" y="-3504539"/>
            <a:ext cx="19341077" cy="10376455"/>
          </a:xfrm>
          <a:custGeom>
            <a:rect b="b" l="l" r="r" t="t"/>
            <a:pathLst>
              <a:path extrusionOk="0" h="7821930" w="14579600">
                <a:moveTo>
                  <a:pt x="1446530" y="2216150"/>
                </a:moveTo>
                <a:cubicBezTo>
                  <a:pt x="2578100" y="0"/>
                  <a:pt x="6996430" y="2960370"/>
                  <a:pt x="8751570" y="1879600"/>
                </a:cubicBezTo>
                <a:cubicBezTo>
                  <a:pt x="11271250" y="328930"/>
                  <a:pt x="14579600" y="2044700"/>
                  <a:pt x="13321030" y="5191760"/>
                </a:cubicBezTo>
                <a:cubicBezTo>
                  <a:pt x="12679680" y="6795770"/>
                  <a:pt x="9763759" y="5523230"/>
                  <a:pt x="8426450" y="6164580"/>
                </a:cubicBezTo>
                <a:cubicBezTo>
                  <a:pt x="4964430" y="7821930"/>
                  <a:pt x="0" y="5048250"/>
                  <a:pt x="1446531" y="221615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54147" l="0" r="0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4"/>
          <p:cNvSpPr/>
          <p:nvPr/>
        </p:nvSpPr>
        <p:spPr>
          <a:xfrm>
            <a:off x="1667412" y="2515608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7" name="Google Shape;127;p14"/>
          <p:cNvSpPr/>
          <p:nvPr/>
        </p:nvSpPr>
        <p:spPr>
          <a:xfrm>
            <a:off x="1549793" y="6447211"/>
            <a:ext cx="1800036" cy="1800036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0037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30901" y="6628319"/>
            <a:ext cx="1437821" cy="143782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9" name="Google Shape;129;p14"/>
          <p:cNvGrpSpPr/>
          <p:nvPr/>
        </p:nvGrpSpPr>
        <p:grpSpPr>
          <a:xfrm>
            <a:off x="2239832" y="3283670"/>
            <a:ext cx="1039833" cy="1039833"/>
            <a:chOff x="0" y="0"/>
            <a:chExt cx="812800" cy="812800"/>
          </a:xfrm>
        </p:grpSpPr>
        <p:sp>
          <p:nvSpPr>
            <p:cNvPr id="130" name="Google Shape;130;p1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1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2" name="Google Shape;132;p14"/>
          <p:cNvSpPr txBox="1"/>
          <p:nvPr/>
        </p:nvSpPr>
        <p:spPr>
          <a:xfrm>
            <a:off x="2449811" y="3380740"/>
            <a:ext cx="4576876" cy="176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Contexto Geral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1158972" y="8366272"/>
            <a:ext cx="2581679" cy="9544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99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Brasileiros procuram opções mais baratas ao fazer compras</a:t>
            </a:r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14129800" y="3916453"/>
            <a:ext cx="1073914" cy="1073914"/>
          </a:xfrm>
          <a:custGeom>
            <a:rect b="b" l="l" r="r" t="t"/>
            <a:pathLst>
              <a:path extrusionOk="0" h="1073914" w="1073914">
                <a:moveTo>
                  <a:pt x="0" y="0"/>
                </a:moveTo>
                <a:lnTo>
                  <a:pt x="1073914" y="0"/>
                </a:lnTo>
                <a:lnTo>
                  <a:pt x="1073914" y="1073914"/>
                </a:lnTo>
                <a:lnTo>
                  <a:pt x="0" y="10739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5" name="Google Shape;135;p14"/>
          <p:cNvSpPr/>
          <p:nvPr/>
        </p:nvSpPr>
        <p:spPr>
          <a:xfrm flipH="1" rot="-5400000">
            <a:off x="-3721713" y="8159274"/>
            <a:ext cx="5641167" cy="4779607"/>
          </a:xfrm>
          <a:custGeom>
            <a:rect b="b" l="l" r="r" t="t"/>
            <a:pathLst>
              <a:path extrusionOk="0" h="4779607" w="5641167">
                <a:moveTo>
                  <a:pt x="5641167" y="0"/>
                </a:moveTo>
                <a:lnTo>
                  <a:pt x="0" y="0"/>
                </a:lnTo>
                <a:lnTo>
                  <a:pt x="0" y="4779607"/>
                </a:lnTo>
                <a:lnTo>
                  <a:pt x="5641167" y="4779607"/>
                </a:lnTo>
                <a:lnTo>
                  <a:pt x="5641167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6" name="Google Shape;136;p14"/>
          <p:cNvSpPr/>
          <p:nvPr/>
        </p:nvSpPr>
        <p:spPr>
          <a:xfrm>
            <a:off x="4835830" y="6447211"/>
            <a:ext cx="1800036" cy="1800036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0037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7" name="Google Shape;137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16938" y="6628319"/>
            <a:ext cx="1437821" cy="143782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4"/>
          <p:cNvSpPr txBox="1"/>
          <p:nvPr/>
        </p:nvSpPr>
        <p:spPr>
          <a:xfrm>
            <a:off x="4445009" y="8366272"/>
            <a:ext cx="2581679" cy="9544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99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Procuram mercados que estão em promoção</a:t>
            </a:r>
            <a:endParaRPr/>
          </a:p>
        </p:txBody>
      </p:sp>
      <p:sp>
        <p:nvSpPr>
          <p:cNvPr id="139" name="Google Shape;139;p14"/>
          <p:cNvSpPr/>
          <p:nvPr/>
        </p:nvSpPr>
        <p:spPr>
          <a:xfrm>
            <a:off x="8122359" y="6447211"/>
            <a:ext cx="1800036" cy="1800036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0037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0" name="Google Shape;140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03467" y="6628319"/>
            <a:ext cx="1437821" cy="1437821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4"/>
          <p:cNvSpPr txBox="1"/>
          <p:nvPr/>
        </p:nvSpPr>
        <p:spPr>
          <a:xfrm>
            <a:off x="7731538" y="8366272"/>
            <a:ext cx="2581679" cy="1583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99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Levam mais itens no supermercado quando observam que o preço está mais baixo</a:t>
            </a:r>
            <a:endParaRPr/>
          </a:p>
        </p:txBody>
      </p:sp>
      <p:sp>
        <p:nvSpPr>
          <p:cNvPr id="142" name="Google Shape;142;p14"/>
          <p:cNvSpPr/>
          <p:nvPr/>
        </p:nvSpPr>
        <p:spPr>
          <a:xfrm>
            <a:off x="11408888" y="6447211"/>
            <a:ext cx="1800036" cy="1800036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0037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3" name="Google Shape;143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589997" y="6628319"/>
            <a:ext cx="1437821" cy="1437821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/>
        </p:nvSpPr>
        <p:spPr>
          <a:xfrm>
            <a:off x="11018067" y="8366272"/>
            <a:ext cx="2581679" cy="1268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99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Costuma pesquisar produtos mais em conta antes de ir ao supermercado</a:t>
            </a:r>
            <a:endParaRPr/>
          </a:p>
        </p:txBody>
      </p:sp>
      <p:sp>
        <p:nvSpPr>
          <p:cNvPr id="145" name="Google Shape;145;p14"/>
          <p:cNvSpPr/>
          <p:nvPr/>
        </p:nvSpPr>
        <p:spPr>
          <a:xfrm>
            <a:off x="14695418" y="6447211"/>
            <a:ext cx="1800036" cy="1800036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0037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6" name="Google Shape;146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4876526" y="6628319"/>
            <a:ext cx="1437821" cy="143782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4"/>
          <p:cNvSpPr txBox="1"/>
          <p:nvPr/>
        </p:nvSpPr>
        <p:spPr>
          <a:xfrm>
            <a:off x="14304596" y="8366272"/>
            <a:ext cx="258167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99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Estão sempre atentos às promoções</a:t>
            </a:r>
            <a:endParaRPr b="0" i="0" sz="1799" u="none" cap="none" strike="noStrike">
              <a:solidFill>
                <a:srgbClr val="201E1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48" name="Google Shape;148;p14" title="LogoPoupaAI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98075" y="570850"/>
            <a:ext cx="1641742" cy="40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oogle Shape;153;p15"/>
          <p:cNvGrpSpPr/>
          <p:nvPr/>
        </p:nvGrpSpPr>
        <p:grpSpPr>
          <a:xfrm>
            <a:off x="-749631" y="4605631"/>
            <a:ext cx="19787262" cy="8303246"/>
            <a:chOff x="0" y="0"/>
            <a:chExt cx="2713559" cy="1138679"/>
          </a:xfrm>
        </p:grpSpPr>
        <p:sp>
          <p:nvSpPr>
            <p:cNvPr id="154" name="Google Shape;154;p15"/>
            <p:cNvSpPr/>
            <p:nvPr/>
          </p:nvSpPr>
          <p:spPr>
            <a:xfrm>
              <a:off x="0" y="0"/>
              <a:ext cx="2713559" cy="1138679"/>
            </a:xfrm>
            <a:custGeom>
              <a:rect b="b" l="l" r="r" t="t"/>
              <a:pathLst>
                <a:path extrusionOk="0" h="1138679" w="2713559">
                  <a:moveTo>
                    <a:pt x="1356779" y="0"/>
                  </a:moveTo>
                  <a:cubicBezTo>
                    <a:pt x="607451" y="0"/>
                    <a:pt x="0" y="254902"/>
                    <a:pt x="0" y="569340"/>
                  </a:cubicBezTo>
                  <a:cubicBezTo>
                    <a:pt x="0" y="883777"/>
                    <a:pt x="607451" y="1138679"/>
                    <a:pt x="1356779" y="1138679"/>
                  </a:cubicBezTo>
                  <a:cubicBezTo>
                    <a:pt x="2106108" y="1138679"/>
                    <a:pt x="2713559" y="883777"/>
                    <a:pt x="2713559" y="569340"/>
                  </a:cubicBezTo>
                  <a:cubicBezTo>
                    <a:pt x="2713559" y="254902"/>
                    <a:pt x="2106108" y="0"/>
                    <a:pt x="1356779" y="0"/>
                  </a:cubicBezTo>
                  <a:close/>
                </a:path>
              </a:pathLst>
            </a:custGeom>
            <a:solidFill>
              <a:srgbClr val="0037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5"/>
            <p:cNvSpPr txBox="1"/>
            <p:nvPr/>
          </p:nvSpPr>
          <p:spPr>
            <a:xfrm>
              <a:off x="254396" y="68651"/>
              <a:ext cx="2204766" cy="9632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5"/>
          <p:cNvSpPr/>
          <p:nvPr/>
        </p:nvSpPr>
        <p:spPr>
          <a:xfrm>
            <a:off x="3905482" y="3481764"/>
            <a:ext cx="3029234" cy="2915664"/>
          </a:xfrm>
          <a:custGeom>
            <a:rect b="b" l="l" r="r" t="t"/>
            <a:pathLst>
              <a:path extrusionOk="0" h="12259310" w="12736830">
                <a:moveTo>
                  <a:pt x="11925300" y="4271010"/>
                </a:moveTo>
                <a:cubicBezTo>
                  <a:pt x="10819131" y="2120900"/>
                  <a:pt x="8590281" y="544830"/>
                  <a:pt x="6215380" y="297180"/>
                </a:cubicBezTo>
                <a:cubicBezTo>
                  <a:pt x="4277360" y="0"/>
                  <a:pt x="3002280" y="913130"/>
                  <a:pt x="1960880" y="2170430"/>
                </a:cubicBezTo>
                <a:cubicBezTo>
                  <a:pt x="919480" y="3427730"/>
                  <a:pt x="365760" y="5030470"/>
                  <a:pt x="142240" y="6647180"/>
                </a:cubicBezTo>
                <a:cubicBezTo>
                  <a:pt x="24130" y="7500620"/>
                  <a:pt x="0" y="8406130"/>
                  <a:pt x="361950" y="9188450"/>
                </a:cubicBezTo>
                <a:cubicBezTo>
                  <a:pt x="820420" y="10180319"/>
                  <a:pt x="1822450" y="10811510"/>
                  <a:pt x="2842260" y="11203940"/>
                </a:cubicBezTo>
                <a:cubicBezTo>
                  <a:pt x="5585460" y="12259310"/>
                  <a:pt x="8953500" y="11850370"/>
                  <a:pt x="11088370" y="9828530"/>
                </a:cubicBezTo>
                <a:cubicBezTo>
                  <a:pt x="11756390" y="9196070"/>
                  <a:pt x="12303760" y="8403590"/>
                  <a:pt x="12499340" y="7504430"/>
                </a:cubicBezTo>
                <a:cubicBezTo>
                  <a:pt x="12736830" y="6413500"/>
                  <a:pt x="12435840" y="5264150"/>
                  <a:pt x="11925300" y="427101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835" l="-243" r="242" t="-943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5"/>
          <p:cNvSpPr/>
          <p:nvPr/>
        </p:nvSpPr>
        <p:spPr>
          <a:xfrm>
            <a:off x="7588043" y="3481764"/>
            <a:ext cx="3029234" cy="2915664"/>
          </a:xfrm>
          <a:custGeom>
            <a:rect b="b" l="l" r="r" t="t"/>
            <a:pathLst>
              <a:path extrusionOk="0" h="12259310" w="12736830">
                <a:moveTo>
                  <a:pt x="11925300" y="4271010"/>
                </a:moveTo>
                <a:cubicBezTo>
                  <a:pt x="10819131" y="2120900"/>
                  <a:pt x="8590281" y="544830"/>
                  <a:pt x="6215380" y="297180"/>
                </a:cubicBezTo>
                <a:cubicBezTo>
                  <a:pt x="4277360" y="0"/>
                  <a:pt x="3002280" y="913130"/>
                  <a:pt x="1960880" y="2170430"/>
                </a:cubicBezTo>
                <a:cubicBezTo>
                  <a:pt x="919480" y="3427730"/>
                  <a:pt x="365760" y="5030470"/>
                  <a:pt x="142240" y="6647180"/>
                </a:cubicBezTo>
                <a:cubicBezTo>
                  <a:pt x="24130" y="7500620"/>
                  <a:pt x="0" y="8406130"/>
                  <a:pt x="361950" y="9188450"/>
                </a:cubicBezTo>
                <a:cubicBezTo>
                  <a:pt x="820420" y="10180319"/>
                  <a:pt x="1822450" y="10811510"/>
                  <a:pt x="2842260" y="11203940"/>
                </a:cubicBezTo>
                <a:cubicBezTo>
                  <a:pt x="5585460" y="12259310"/>
                  <a:pt x="8953500" y="11850370"/>
                  <a:pt x="11088370" y="9828530"/>
                </a:cubicBezTo>
                <a:cubicBezTo>
                  <a:pt x="11756390" y="9196070"/>
                  <a:pt x="12303760" y="8403590"/>
                  <a:pt x="12499340" y="7504430"/>
                </a:cubicBezTo>
                <a:cubicBezTo>
                  <a:pt x="12736830" y="6413500"/>
                  <a:pt x="12435840" y="5264150"/>
                  <a:pt x="11925300" y="427101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597" l="-243" r="242" t="-9667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5"/>
          <p:cNvSpPr/>
          <p:nvPr/>
        </p:nvSpPr>
        <p:spPr>
          <a:xfrm>
            <a:off x="11270603" y="3481764"/>
            <a:ext cx="3029234" cy="2915664"/>
          </a:xfrm>
          <a:custGeom>
            <a:rect b="b" l="l" r="r" t="t"/>
            <a:pathLst>
              <a:path extrusionOk="0" h="12259310" w="12736830">
                <a:moveTo>
                  <a:pt x="11925300" y="4271010"/>
                </a:moveTo>
                <a:cubicBezTo>
                  <a:pt x="10819131" y="2120900"/>
                  <a:pt x="8590281" y="544830"/>
                  <a:pt x="6215380" y="297180"/>
                </a:cubicBezTo>
                <a:cubicBezTo>
                  <a:pt x="4277360" y="0"/>
                  <a:pt x="3002280" y="913130"/>
                  <a:pt x="1960880" y="2170430"/>
                </a:cubicBezTo>
                <a:cubicBezTo>
                  <a:pt x="919480" y="3427730"/>
                  <a:pt x="365760" y="5030470"/>
                  <a:pt x="142240" y="6647180"/>
                </a:cubicBezTo>
                <a:cubicBezTo>
                  <a:pt x="24130" y="7500620"/>
                  <a:pt x="0" y="8406130"/>
                  <a:pt x="361950" y="9188450"/>
                </a:cubicBezTo>
                <a:cubicBezTo>
                  <a:pt x="820420" y="10180319"/>
                  <a:pt x="1822450" y="10811510"/>
                  <a:pt x="2842260" y="11203940"/>
                </a:cubicBezTo>
                <a:cubicBezTo>
                  <a:pt x="5585460" y="12259310"/>
                  <a:pt x="8953500" y="11850370"/>
                  <a:pt x="11088370" y="9828530"/>
                </a:cubicBezTo>
                <a:cubicBezTo>
                  <a:pt x="11756390" y="9196070"/>
                  <a:pt x="12303760" y="8403590"/>
                  <a:pt x="12499340" y="7504430"/>
                </a:cubicBezTo>
                <a:cubicBezTo>
                  <a:pt x="12736830" y="6413500"/>
                  <a:pt x="12435840" y="5264150"/>
                  <a:pt x="11925300" y="427101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954" l="-243" r="242" t="-9311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9" name="Google Shape;159;p15"/>
          <p:cNvGrpSpPr/>
          <p:nvPr/>
        </p:nvGrpSpPr>
        <p:grpSpPr>
          <a:xfrm>
            <a:off x="4002462" y="1660882"/>
            <a:ext cx="1039833" cy="1039833"/>
            <a:chOff x="0" y="0"/>
            <a:chExt cx="812800" cy="812800"/>
          </a:xfrm>
        </p:grpSpPr>
        <p:sp>
          <p:nvSpPr>
            <p:cNvPr id="160" name="Google Shape;160;p1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2" name="Google Shape;162;p15"/>
          <p:cNvSpPr/>
          <p:nvPr/>
        </p:nvSpPr>
        <p:spPr>
          <a:xfrm rot="1448240">
            <a:off x="16530095" y="-2022399"/>
            <a:ext cx="5641167" cy="4779607"/>
          </a:xfrm>
          <a:custGeom>
            <a:rect b="b" l="l" r="r" t="t"/>
            <a:pathLst>
              <a:path extrusionOk="0" h="4779607" w="5641167">
                <a:moveTo>
                  <a:pt x="0" y="0"/>
                </a:moveTo>
                <a:lnTo>
                  <a:pt x="5641167" y="0"/>
                </a:lnTo>
                <a:lnTo>
                  <a:pt x="5641167" y="4779607"/>
                </a:lnTo>
                <a:lnTo>
                  <a:pt x="0" y="47796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3" name="Google Shape;163;p15"/>
          <p:cNvSpPr/>
          <p:nvPr/>
        </p:nvSpPr>
        <p:spPr>
          <a:xfrm>
            <a:off x="6106138" y="3701670"/>
            <a:ext cx="1073914" cy="1073914"/>
          </a:xfrm>
          <a:custGeom>
            <a:rect b="b" l="l" r="r" t="t"/>
            <a:pathLst>
              <a:path extrusionOk="0" h="1073914" w="1073914">
                <a:moveTo>
                  <a:pt x="0" y="0"/>
                </a:moveTo>
                <a:lnTo>
                  <a:pt x="1073914" y="0"/>
                </a:lnTo>
                <a:lnTo>
                  <a:pt x="1073914" y="1073913"/>
                </a:lnTo>
                <a:lnTo>
                  <a:pt x="0" y="107391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4" name="Google Shape;164;p15"/>
          <p:cNvSpPr/>
          <p:nvPr/>
        </p:nvSpPr>
        <p:spPr>
          <a:xfrm>
            <a:off x="9788699" y="3701670"/>
            <a:ext cx="1073914" cy="1073914"/>
          </a:xfrm>
          <a:custGeom>
            <a:rect b="b" l="l" r="r" t="t"/>
            <a:pathLst>
              <a:path extrusionOk="0" h="1073914" w="1073914">
                <a:moveTo>
                  <a:pt x="0" y="0"/>
                </a:moveTo>
                <a:lnTo>
                  <a:pt x="1073913" y="0"/>
                </a:lnTo>
                <a:lnTo>
                  <a:pt x="1073913" y="1073913"/>
                </a:lnTo>
                <a:lnTo>
                  <a:pt x="0" y="107391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5" name="Google Shape;165;p15"/>
          <p:cNvSpPr/>
          <p:nvPr/>
        </p:nvSpPr>
        <p:spPr>
          <a:xfrm>
            <a:off x="13471259" y="3701670"/>
            <a:ext cx="1073914" cy="1073914"/>
          </a:xfrm>
          <a:custGeom>
            <a:rect b="b" l="l" r="r" t="t"/>
            <a:pathLst>
              <a:path extrusionOk="0" h="1073914" w="1073914">
                <a:moveTo>
                  <a:pt x="0" y="0"/>
                </a:moveTo>
                <a:lnTo>
                  <a:pt x="1073914" y="0"/>
                </a:lnTo>
                <a:lnTo>
                  <a:pt x="1073914" y="1073913"/>
                </a:lnTo>
                <a:lnTo>
                  <a:pt x="0" y="107391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6" name="Google Shape;166;p15"/>
          <p:cNvSpPr txBox="1"/>
          <p:nvPr/>
        </p:nvSpPr>
        <p:spPr>
          <a:xfrm>
            <a:off x="15203714" y="9587702"/>
            <a:ext cx="2470802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67" name="Google Shape;167;p15"/>
          <p:cNvSpPr txBox="1"/>
          <p:nvPr/>
        </p:nvSpPr>
        <p:spPr>
          <a:xfrm>
            <a:off x="4174335" y="1710327"/>
            <a:ext cx="9939330" cy="905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Conhecendo nosso público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4241009" y="7129568"/>
            <a:ext cx="2035366" cy="283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9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Estudante</a:t>
            </a:r>
            <a:endParaRPr/>
          </a:p>
        </p:txBody>
      </p:sp>
      <p:sp>
        <p:nvSpPr>
          <p:cNvPr id="169" name="Google Shape;169;p15"/>
          <p:cNvSpPr txBox="1"/>
          <p:nvPr/>
        </p:nvSpPr>
        <p:spPr>
          <a:xfrm>
            <a:off x="4035696" y="6779984"/>
            <a:ext cx="2445992" cy="283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Pedro, 25 anos</a:t>
            </a:r>
            <a:endParaRPr/>
          </a:p>
        </p:txBody>
      </p:sp>
      <p:sp>
        <p:nvSpPr>
          <p:cNvPr id="170" name="Google Shape;170;p15"/>
          <p:cNvSpPr txBox="1"/>
          <p:nvPr/>
        </p:nvSpPr>
        <p:spPr>
          <a:xfrm>
            <a:off x="3664738" y="7593678"/>
            <a:ext cx="3187907" cy="100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Jovem aspirante:</a:t>
            </a:r>
            <a:r>
              <a:rPr b="0" i="0" lang="en-US" sz="1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Busca eficiência e controle financeiro. Aprecia funcionalidades digitais avançadas e produtos baratos.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8084977" y="7129568"/>
            <a:ext cx="2035366" cy="283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9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Advogada</a:t>
            </a:r>
            <a:endParaRPr/>
          </a:p>
        </p:txBody>
      </p:sp>
      <p:sp>
        <p:nvSpPr>
          <p:cNvPr id="172" name="Google Shape;172;p15"/>
          <p:cNvSpPr txBox="1"/>
          <p:nvPr/>
        </p:nvSpPr>
        <p:spPr>
          <a:xfrm>
            <a:off x="7342707" y="6779984"/>
            <a:ext cx="3519905" cy="283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Carla, 35 anos</a:t>
            </a:r>
            <a:endParaRPr/>
          </a:p>
        </p:txBody>
      </p:sp>
      <p:sp>
        <p:nvSpPr>
          <p:cNvPr id="173" name="Google Shape;173;p15"/>
          <p:cNvSpPr txBox="1"/>
          <p:nvPr/>
        </p:nvSpPr>
        <p:spPr>
          <a:xfrm>
            <a:off x="7508706" y="7593678"/>
            <a:ext cx="3187907" cy="100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Mãe trabalhadora:</a:t>
            </a:r>
            <a:r>
              <a:rPr b="0" i="0" lang="en-US" sz="1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Precisa otimizar tempo e dinheiro nas compras familiares. Valoriza praticidade e economia.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11827823" y="7129568"/>
            <a:ext cx="2035366" cy="283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99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Aposentado</a:t>
            </a:r>
            <a:endParaRPr/>
          </a:p>
        </p:txBody>
      </p:sp>
      <p:sp>
        <p:nvSpPr>
          <p:cNvPr id="175" name="Google Shape;175;p15"/>
          <p:cNvSpPr txBox="1"/>
          <p:nvPr/>
        </p:nvSpPr>
        <p:spPr>
          <a:xfrm>
            <a:off x="11622511" y="6779984"/>
            <a:ext cx="2445992" cy="283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Osvaldo, 73 anos</a:t>
            </a:r>
            <a:endParaRPr/>
          </a:p>
        </p:txBody>
      </p:sp>
      <p:sp>
        <p:nvSpPr>
          <p:cNvPr id="176" name="Google Shape;176;p15"/>
          <p:cNvSpPr txBox="1"/>
          <p:nvPr/>
        </p:nvSpPr>
        <p:spPr>
          <a:xfrm>
            <a:off x="11251553" y="7593678"/>
            <a:ext cx="3187907" cy="12503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Avô esquecido:</a:t>
            </a:r>
            <a:r>
              <a:rPr b="0" i="0" lang="en-US" sz="1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Tem dificuldade em memorizar lista de compras e dúvidas nos preços, além de dificuldade em se locomover. Estima simplicidade e autonomia.</a:t>
            </a:r>
            <a:endParaRPr/>
          </a:p>
        </p:txBody>
      </p:sp>
      <p:pic>
        <p:nvPicPr>
          <p:cNvPr id="177" name="Google Shape;177;p15" title="LogoPoupaAI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54625" y="478575"/>
            <a:ext cx="1641742" cy="40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oogle Shape;182;p16"/>
          <p:cNvGrpSpPr/>
          <p:nvPr/>
        </p:nvGrpSpPr>
        <p:grpSpPr>
          <a:xfrm>
            <a:off x="584843" y="2182945"/>
            <a:ext cx="5203158" cy="2831203"/>
            <a:chOff x="0" y="-38100"/>
            <a:chExt cx="3842694" cy="2090932"/>
          </a:xfrm>
        </p:grpSpPr>
        <p:sp>
          <p:nvSpPr>
            <p:cNvPr id="183" name="Google Shape;183;p16"/>
            <p:cNvSpPr/>
            <p:nvPr/>
          </p:nvSpPr>
          <p:spPr>
            <a:xfrm>
              <a:off x="0" y="0"/>
              <a:ext cx="3842694" cy="2052832"/>
            </a:xfrm>
            <a:custGeom>
              <a:rect b="b" l="l" r="r" t="t"/>
              <a:pathLst>
                <a:path extrusionOk="0" h="2052832" w="3842694">
                  <a:moveTo>
                    <a:pt x="75884" y="0"/>
                  </a:moveTo>
                  <a:lnTo>
                    <a:pt x="3766810" y="0"/>
                  </a:lnTo>
                  <a:cubicBezTo>
                    <a:pt x="3808719" y="0"/>
                    <a:pt x="3842694" y="33975"/>
                    <a:pt x="3842694" y="75884"/>
                  </a:cubicBezTo>
                  <a:lnTo>
                    <a:pt x="3842694" y="1976948"/>
                  </a:lnTo>
                  <a:cubicBezTo>
                    <a:pt x="3842694" y="1997073"/>
                    <a:pt x="3834699" y="2016375"/>
                    <a:pt x="3820468" y="2030606"/>
                  </a:cubicBezTo>
                  <a:cubicBezTo>
                    <a:pt x="3806237" y="2044837"/>
                    <a:pt x="3786936" y="2052832"/>
                    <a:pt x="3766810" y="2052832"/>
                  </a:cubicBezTo>
                  <a:lnTo>
                    <a:pt x="75884" y="2052832"/>
                  </a:lnTo>
                  <a:cubicBezTo>
                    <a:pt x="33975" y="2052832"/>
                    <a:pt x="0" y="2018857"/>
                    <a:pt x="0" y="1976948"/>
                  </a:cubicBezTo>
                  <a:lnTo>
                    <a:pt x="0" y="75884"/>
                  </a:lnTo>
                  <a:cubicBezTo>
                    <a:pt x="0" y="33975"/>
                    <a:pt x="33975" y="0"/>
                    <a:pt x="75884" y="0"/>
                  </a:cubicBezTo>
                  <a:close/>
                </a:path>
              </a:pathLst>
            </a:custGeom>
            <a:solidFill>
              <a:srgbClr val="0037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16"/>
            <p:cNvSpPr txBox="1"/>
            <p:nvPr/>
          </p:nvSpPr>
          <p:spPr>
            <a:xfrm>
              <a:off x="0" y="-38100"/>
              <a:ext cx="3842694" cy="20909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5" name="Google Shape;185;p16"/>
          <p:cNvSpPr/>
          <p:nvPr/>
        </p:nvSpPr>
        <p:spPr>
          <a:xfrm>
            <a:off x="12522472" y="1964401"/>
            <a:ext cx="7127058" cy="10038110"/>
          </a:xfrm>
          <a:custGeom>
            <a:rect b="b" l="l" r="r" t="t"/>
            <a:pathLst>
              <a:path extrusionOk="0" h="10038110" w="7127058">
                <a:moveTo>
                  <a:pt x="0" y="0"/>
                </a:moveTo>
                <a:lnTo>
                  <a:pt x="7127058" y="0"/>
                </a:lnTo>
                <a:lnTo>
                  <a:pt x="7127058" y="10038110"/>
                </a:lnTo>
                <a:lnTo>
                  <a:pt x="0" y="100381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6" name="Google Shape;186;p16"/>
          <p:cNvSpPr/>
          <p:nvPr/>
        </p:nvSpPr>
        <p:spPr>
          <a:xfrm>
            <a:off x="988964" y="2592780"/>
            <a:ext cx="374376" cy="269083"/>
          </a:xfrm>
          <a:custGeom>
            <a:rect b="b" l="l" r="r" t="t"/>
            <a:pathLst>
              <a:path extrusionOk="0" h="269083" w="374376">
                <a:moveTo>
                  <a:pt x="0" y="0"/>
                </a:moveTo>
                <a:lnTo>
                  <a:pt x="374376" y="0"/>
                </a:lnTo>
                <a:lnTo>
                  <a:pt x="374376" y="269082"/>
                </a:lnTo>
                <a:lnTo>
                  <a:pt x="0" y="2690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7" name="Google Shape;187;p16"/>
          <p:cNvSpPr txBox="1"/>
          <p:nvPr/>
        </p:nvSpPr>
        <p:spPr>
          <a:xfrm>
            <a:off x="988964" y="2962029"/>
            <a:ext cx="4517451" cy="15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68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Preciso de um histórico com os preços dos produtos que costumo consumir para evitar lojas que tenham aumentado os preços repentinamente e buscar produtos substitutos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988964" y="4604339"/>
            <a:ext cx="1556859" cy="1383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84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OSvaldo, 73 anos</a:t>
            </a:r>
            <a:endParaRPr/>
          </a:p>
        </p:txBody>
      </p:sp>
      <p:sp>
        <p:nvSpPr>
          <p:cNvPr id="189" name="Google Shape;189;p16"/>
          <p:cNvSpPr/>
          <p:nvPr/>
        </p:nvSpPr>
        <p:spPr>
          <a:xfrm rot="10800000">
            <a:off x="1429426" y="2592780"/>
            <a:ext cx="374376" cy="269083"/>
          </a:xfrm>
          <a:custGeom>
            <a:rect b="b" l="l" r="r" t="t"/>
            <a:pathLst>
              <a:path extrusionOk="0" h="269083" w="374376">
                <a:moveTo>
                  <a:pt x="374376" y="269082"/>
                </a:moveTo>
                <a:lnTo>
                  <a:pt x="0" y="269082"/>
                </a:lnTo>
                <a:lnTo>
                  <a:pt x="0" y="0"/>
                </a:lnTo>
                <a:lnTo>
                  <a:pt x="374376" y="0"/>
                </a:lnTo>
                <a:lnTo>
                  <a:pt x="374376" y="269082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0" name="Google Shape;190;p16"/>
          <p:cNvSpPr/>
          <p:nvPr/>
        </p:nvSpPr>
        <p:spPr>
          <a:xfrm flipH="1" rot="-5400000">
            <a:off x="-3721713" y="8159274"/>
            <a:ext cx="5641167" cy="4779607"/>
          </a:xfrm>
          <a:custGeom>
            <a:rect b="b" l="l" r="r" t="t"/>
            <a:pathLst>
              <a:path extrusionOk="0" h="4779607" w="5641167">
                <a:moveTo>
                  <a:pt x="5641167" y="0"/>
                </a:moveTo>
                <a:lnTo>
                  <a:pt x="0" y="0"/>
                </a:lnTo>
                <a:lnTo>
                  <a:pt x="0" y="4779607"/>
                </a:lnTo>
                <a:lnTo>
                  <a:pt x="5641167" y="4779607"/>
                </a:lnTo>
                <a:lnTo>
                  <a:pt x="5641167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1" name="Google Shape;191;p16"/>
          <p:cNvSpPr/>
          <p:nvPr/>
        </p:nvSpPr>
        <p:spPr>
          <a:xfrm rot="1448240">
            <a:off x="16530095" y="-2022399"/>
            <a:ext cx="5641167" cy="4779607"/>
          </a:xfrm>
          <a:custGeom>
            <a:rect b="b" l="l" r="r" t="t"/>
            <a:pathLst>
              <a:path extrusionOk="0" h="4779607" w="5641167">
                <a:moveTo>
                  <a:pt x="0" y="0"/>
                </a:moveTo>
                <a:lnTo>
                  <a:pt x="5641167" y="0"/>
                </a:lnTo>
                <a:lnTo>
                  <a:pt x="5641167" y="4779607"/>
                </a:lnTo>
                <a:lnTo>
                  <a:pt x="0" y="47796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2" name="Google Shape;192;p16"/>
          <p:cNvSpPr/>
          <p:nvPr/>
        </p:nvSpPr>
        <p:spPr>
          <a:xfrm>
            <a:off x="13465982" y="2861421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1"/>
                </a:lnTo>
                <a:lnTo>
                  <a:pt x="0" y="5724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3" name="Google Shape;193;p16"/>
          <p:cNvSpPr/>
          <p:nvPr/>
        </p:nvSpPr>
        <p:spPr>
          <a:xfrm>
            <a:off x="11985516" y="7493607"/>
            <a:ext cx="1073914" cy="1073914"/>
          </a:xfrm>
          <a:custGeom>
            <a:rect b="b" l="l" r="r" t="t"/>
            <a:pathLst>
              <a:path extrusionOk="0" h="1073914" w="1073914">
                <a:moveTo>
                  <a:pt x="0" y="0"/>
                </a:moveTo>
                <a:lnTo>
                  <a:pt x="1073913" y="0"/>
                </a:lnTo>
                <a:lnTo>
                  <a:pt x="1073913" y="1073914"/>
                </a:lnTo>
                <a:lnTo>
                  <a:pt x="0" y="10739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4" name="Google Shape;194;p16"/>
          <p:cNvSpPr/>
          <p:nvPr/>
        </p:nvSpPr>
        <p:spPr>
          <a:xfrm>
            <a:off x="16973090" y="2649628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95" name="Google Shape;195;p16"/>
          <p:cNvGrpSpPr/>
          <p:nvPr/>
        </p:nvGrpSpPr>
        <p:grpSpPr>
          <a:xfrm>
            <a:off x="3832158" y="784609"/>
            <a:ext cx="1039833" cy="1039833"/>
            <a:chOff x="0" y="0"/>
            <a:chExt cx="812800" cy="812800"/>
          </a:xfrm>
        </p:grpSpPr>
        <p:sp>
          <p:nvSpPr>
            <p:cNvPr id="196" name="Google Shape;196;p1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8" name="Google Shape;198;p16"/>
          <p:cNvSpPr txBox="1"/>
          <p:nvPr/>
        </p:nvSpPr>
        <p:spPr>
          <a:xfrm>
            <a:off x="4004031" y="834054"/>
            <a:ext cx="10877273" cy="905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Histórias de Nossos Usuários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575324" y="9587702"/>
            <a:ext cx="734178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/>
          </a:p>
        </p:txBody>
      </p:sp>
      <p:grpSp>
        <p:nvGrpSpPr>
          <p:cNvPr id="200" name="Google Shape;200;p16"/>
          <p:cNvGrpSpPr/>
          <p:nvPr/>
        </p:nvGrpSpPr>
        <p:grpSpPr>
          <a:xfrm>
            <a:off x="6782358" y="3848157"/>
            <a:ext cx="5203158" cy="2831203"/>
            <a:chOff x="0" y="-38100"/>
            <a:chExt cx="3842694" cy="2090932"/>
          </a:xfrm>
        </p:grpSpPr>
        <p:sp>
          <p:nvSpPr>
            <p:cNvPr id="201" name="Google Shape;201;p16"/>
            <p:cNvSpPr/>
            <p:nvPr/>
          </p:nvSpPr>
          <p:spPr>
            <a:xfrm>
              <a:off x="0" y="0"/>
              <a:ext cx="3842694" cy="2052832"/>
            </a:xfrm>
            <a:custGeom>
              <a:rect b="b" l="l" r="r" t="t"/>
              <a:pathLst>
                <a:path extrusionOk="0" h="2052832" w="3842694">
                  <a:moveTo>
                    <a:pt x="75884" y="0"/>
                  </a:moveTo>
                  <a:lnTo>
                    <a:pt x="3766810" y="0"/>
                  </a:lnTo>
                  <a:cubicBezTo>
                    <a:pt x="3808719" y="0"/>
                    <a:pt x="3842694" y="33975"/>
                    <a:pt x="3842694" y="75884"/>
                  </a:cubicBezTo>
                  <a:lnTo>
                    <a:pt x="3842694" y="1976948"/>
                  </a:lnTo>
                  <a:cubicBezTo>
                    <a:pt x="3842694" y="1997073"/>
                    <a:pt x="3834699" y="2016375"/>
                    <a:pt x="3820468" y="2030606"/>
                  </a:cubicBezTo>
                  <a:cubicBezTo>
                    <a:pt x="3806237" y="2044837"/>
                    <a:pt x="3786936" y="2052832"/>
                    <a:pt x="3766810" y="2052832"/>
                  </a:cubicBezTo>
                  <a:lnTo>
                    <a:pt x="75884" y="2052832"/>
                  </a:lnTo>
                  <a:cubicBezTo>
                    <a:pt x="33975" y="2052832"/>
                    <a:pt x="0" y="2018857"/>
                    <a:pt x="0" y="1976948"/>
                  </a:cubicBezTo>
                  <a:lnTo>
                    <a:pt x="0" y="75884"/>
                  </a:lnTo>
                  <a:cubicBezTo>
                    <a:pt x="0" y="33975"/>
                    <a:pt x="33975" y="0"/>
                    <a:pt x="75884" y="0"/>
                  </a:cubicBezTo>
                  <a:close/>
                </a:path>
              </a:pathLst>
            </a:custGeom>
            <a:solidFill>
              <a:srgbClr val="0037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16"/>
            <p:cNvSpPr txBox="1"/>
            <p:nvPr/>
          </p:nvSpPr>
          <p:spPr>
            <a:xfrm>
              <a:off x="0" y="-38100"/>
              <a:ext cx="3842694" cy="20909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3" name="Google Shape;203;p16"/>
          <p:cNvSpPr/>
          <p:nvPr/>
        </p:nvSpPr>
        <p:spPr>
          <a:xfrm>
            <a:off x="7186479" y="4257991"/>
            <a:ext cx="374376" cy="269083"/>
          </a:xfrm>
          <a:custGeom>
            <a:rect b="b" l="l" r="r" t="t"/>
            <a:pathLst>
              <a:path extrusionOk="0" h="269083" w="374376">
                <a:moveTo>
                  <a:pt x="0" y="0"/>
                </a:moveTo>
                <a:lnTo>
                  <a:pt x="374376" y="0"/>
                </a:lnTo>
                <a:lnTo>
                  <a:pt x="374376" y="269083"/>
                </a:lnTo>
                <a:lnTo>
                  <a:pt x="0" y="2690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4" name="Google Shape;204;p16"/>
          <p:cNvSpPr txBox="1"/>
          <p:nvPr/>
        </p:nvSpPr>
        <p:spPr>
          <a:xfrm>
            <a:off x="7186479" y="4627241"/>
            <a:ext cx="4517451" cy="15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68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Preciso otimizar meu tempo e saber onde posso encontrar os produtos que preciso comprar para ter mais tempo para realizar minhas tarefas e descansar em casa</a:t>
            </a:r>
            <a:endParaRPr/>
          </a:p>
        </p:txBody>
      </p:sp>
      <p:sp>
        <p:nvSpPr>
          <p:cNvPr id="205" name="Google Shape;205;p16"/>
          <p:cNvSpPr txBox="1"/>
          <p:nvPr/>
        </p:nvSpPr>
        <p:spPr>
          <a:xfrm>
            <a:off x="7186479" y="6269551"/>
            <a:ext cx="1556859" cy="1383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84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Carla, 35 anos</a:t>
            </a:r>
            <a:endParaRPr/>
          </a:p>
        </p:txBody>
      </p:sp>
      <p:sp>
        <p:nvSpPr>
          <p:cNvPr id="206" name="Google Shape;206;p16"/>
          <p:cNvSpPr/>
          <p:nvPr/>
        </p:nvSpPr>
        <p:spPr>
          <a:xfrm rot="10800000">
            <a:off x="7626941" y="4257991"/>
            <a:ext cx="374376" cy="269083"/>
          </a:xfrm>
          <a:custGeom>
            <a:rect b="b" l="l" r="r" t="t"/>
            <a:pathLst>
              <a:path extrusionOk="0" h="269083" w="374376">
                <a:moveTo>
                  <a:pt x="374376" y="269083"/>
                </a:moveTo>
                <a:lnTo>
                  <a:pt x="0" y="269083"/>
                </a:lnTo>
                <a:lnTo>
                  <a:pt x="0" y="0"/>
                </a:lnTo>
                <a:lnTo>
                  <a:pt x="374376" y="0"/>
                </a:lnTo>
                <a:lnTo>
                  <a:pt x="374376" y="269083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07" name="Google Shape;207;p16"/>
          <p:cNvGrpSpPr/>
          <p:nvPr/>
        </p:nvGrpSpPr>
        <p:grpSpPr>
          <a:xfrm>
            <a:off x="575324" y="5873817"/>
            <a:ext cx="5203158" cy="2831203"/>
            <a:chOff x="0" y="-38100"/>
            <a:chExt cx="3842694" cy="2090932"/>
          </a:xfrm>
        </p:grpSpPr>
        <p:sp>
          <p:nvSpPr>
            <p:cNvPr id="208" name="Google Shape;208;p16"/>
            <p:cNvSpPr/>
            <p:nvPr/>
          </p:nvSpPr>
          <p:spPr>
            <a:xfrm>
              <a:off x="0" y="0"/>
              <a:ext cx="3842694" cy="2052832"/>
            </a:xfrm>
            <a:custGeom>
              <a:rect b="b" l="l" r="r" t="t"/>
              <a:pathLst>
                <a:path extrusionOk="0" h="2052832" w="3842694">
                  <a:moveTo>
                    <a:pt x="75884" y="0"/>
                  </a:moveTo>
                  <a:lnTo>
                    <a:pt x="3766810" y="0"/>
                  </a:lnTo>
                  <a:cubicBezTo>
                    <a:pt x="3808719" y="0"/>
                    <a:pt x="3842694" y="33975"/>
                    <a:pt x="3842694" y="75884"/>
                  </a:cubicBezTo>
                  <a:lnTo>
                    <a:pt x="3842694" y="1976948"/>
                  </a:lnTo>
                  <a:cubicBezTo>
                    <a:pt x="3842694" y="1997073"/>
                    <a:pt x="3834699" y="2016375"/>
                    <a:pt x="3820468" y="2030606"/>
                  </a:cubicBezTo>
                  <a:cubicBezTo>
                    <a:pt x="3806237" y="2044837"/>
                    <a:pt x="3786936" y="2052832"/>
                    <a:pt x="3766810" y="2052832"/>
                  </a:cubicBezTo>
                  <a:lnTo>
                    <a:pt x="75884" y="2052832"/>
                  </a:lnTo>
                  <a:cubicBezTo>
                    <a:pt x="33975" y="2052832"/>
                    <a:pt x="0" y="2018857"/>
                    <a:pt x="0" y="1976948"/>
                  </a:cubicBezTo>
                  <a:lnTo>
                    <a:pt x="0" y="75884"/>
                  </a:lnTo>
                  <a:cubicBezTo>
                    <a:pt x="0" y="33975"/>
                    <a:pt x="33975" y="0"/>
                    <a:pt x="75884" y="0"/>
                  </a:cubicBezTo>
                  <a:close/>
                </a:path>
              </a:pathLst>
            </a:custGeom>
            <a:solidFill>
              <a:srgbClr val="0037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16"/>
            <p:cNvSpPr txBox="1"/>
            <p:nvPr/>
          </p:nvSpPr>
          <p:spPr>
            <a:xfrm>
              <a:off x="0" y="-38100"/>
              <a:ext cx="3842694" cy="20909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6"/>
          <p:cNvSpPr/>
          <p:nvPr/>
        </p:nvSpPr>
        <p:spPr>
          <a:xfrm>
            <a:off x="979444" y="6283651"/>
            <a:ext cx="374376" cy="269083"/>
          </a:xfrm>
          <a:custGeom>
            <a:rect b="b" l="l" r="r" t="t"/>
            <a:pathLst>
              <a:path extrusionOk="0" h="269083" w="374376">
                <a:moveTo>
                  <a:pt x="0" y="0"/>
                </a:moveTo>
                <a:lnTo>
                  <a:pt x="374376" y="0"/>
                </a:lnTo>
                <a:lnTo>
                  <a:pt x="374376" y="269083"/>
                </a:lnTo>
                <a:lnTo>
                  <a:pt x="0" y="2690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1" name="Google Shape;211;p16"/>
          <p:cNvSpPr txBox="1"/>
          <p:nvPr/>
        </p:nvSpPr>
        <p:spPr>
          <a:xfrm>
            <a:off x="952500" y="6926306"/>
            <a:ext cx="4517451" cy="9111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68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Preciso encontrar os melhores preços para os produtos para ter mais dinheiro para sair com os amigos</a:t>
            </a:r>
            <a:endParaRPr/>
          </a:p>
        </p:txBody>
      </p:sp>
      <p:sp>
        <p:nvSpPr>
          <p:cNvPr id="212" name="Google Shape;212;p16"/>
          <p:cNvSpPr txBox="1"/>
          <p:nvPr/>
        </p:nvSpPr>
        <p:spPr>
          <a:xfrm>
            <a:off x="979444" y="8295210"/>
            <a:ext cx="1556859" cy="1383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5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84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OPedro, 25 anos</a:t>
            </a:r>
            <a:endParaRPr/>
          </a:p>
        </p:txBody>
      </p:sp>
      <p:sp>
        <p:nvSpPr>
          <p:cNvPr id="213" name="Google Shape;213;p16"/>
          <p:cNvSpPr/>
          <p:nvPr/>
        </p:nvSpPr>
        <p:spPr>
          <a:xfrm rot="10800000">
            <a:off x="1419907" y="6283651"/>
            <a:ext cx="374376" cy="269083"/>
          </a:xfrm>
          <a:custGeom>
            <a:rect b="b" l="l" r="r" t="t"/>
            <a:pathLst>
              <a:path extrusionOk="0" h="269083" w="374376">
                <a:moveTo>
                  <a:pt x="374376" y="269083"/>
                </a:moveTo>
                <a:lnTo>
                  <a:pt x="0" y="269083"/>
                </a:lnTo>
                <a:lnTo>
                  <a:pt x="0" y="0"/>
                </a:lnTo>
                <a:lnTo>
                  <a:pt x="374376" y="0"/>
                </a:lnTo>
                <a:lnTo>
                  <a:pt x="374376" y="269083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id="214" name="Google Shape;214;p16" title="LogoPoupaAI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5313" y="505400"/>
            <a:ext cx="1641742" cy="40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7"/>
          <p:cNvSpPr txBox="1"/>
          <p:nvPr/>
        </p:nvSpPr>
        <p:spPr>
          <a:xfrm>
            <a:off x="15203714" y="9587702"/>
            <a:ext cx="2470802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/>
          </a:p>
        </p:txBody>
      </p:sp>
      <p:sp>
        <p:nvSpPr>
          <p:cNvPr id="220" name="Google Shape;220;p17"/>
          <p:cNvSpPr/>
          <p:nvPr/>
        </p:nvSpPr>
        <p:spPr>
          <a:xfrm>
            <a:off x="9541494" y="3680015"/>
            <a:ext cx="2926982" cy="2926970"/>
          </a:xfrm>
          <a:custGeom>
            <a:rect b="b" l="l" r="r" t="t"/>
            <a:pathLst>
              <a:path extrusionOk="0" h="6349974" w="6350000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7394" l="0" r="-117869" t="-4554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7"/>
          <p:cNvSpPr/>
          <p:nvPr/>
        </p:nvSpPr>
        <p:spPr>
          <a:xfrm>
            <a:off x="11769473" y="1402526"/>
            <a:ext cx="2926982" cy="2926970"/>
          </a:xfrm>
          <a:custGeom>
            <a:rect b="b" l="l" r="r" t="t"/>
            <a:pathLst>
              <a:path extrusionOk="0" h="6349974" w="6350000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4879" r="-45066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7"/>
          <p:cNvSpPr/>
          <p:nvPr/>
        </p:nvSpPr>
        <p:spPr>
          <a:xfrm>
            <a:off x="11769473" y="5957503"/>
            <a:ext cx="2926982" cy="2926970"/>
          </a:xfrm>
          <a:custGeom>
            <a:rect b="b" l="l" r="r" t="t"/>
            <a:pathLst>
              <a:path extrusionOk="0" h="6349974" w="6350000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4502" l="0" r="-215377" t="-105607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7"/>
          <p:cNvSpPr/>
          <p:nvPr/>
        </p:nvSpPr>
        <p:spPr>
          <a:xfrm>
            <a:off x="13997451" y="3680015"/>
            <a:ext cx="2926982" cy="2926970"/>
          </a:xfrm>
          <a:custGeom>
            <a:rect b="b" l="l" r="r" t="t"/>
            <a:pathLst>
              <a:path extrusionOk="0" h="6349974" w="6350000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14213" r="0" t="-71426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7"/>
          <p:cNvSpPr/>
          <p:nvPr/>
        </p:nvSpPr>
        <p:spPr>
          <a:xfrm>
            <a:off x="11729790" y="3640326"/>
            <a:ext cx="3006348" cy="3006348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0042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5" name="Google Shape;225;p17"/>
          <p:cNvGrpSpPr/>
          <p:nvPr/>
        </p:nvGrpSpPr>
        <p:grpSpPr>
          <a:xfrm>
            <a:off x="1789651" y="1784985"/>
            <a:ext cx="1039833" cy="1039833"/>
            <a:chOff x="0" y="0"/>
            <a:chExt cx="812800" cy="812800"/>
          </a:xfrm>
        </p:grpSpPr>
        <p:sp>
          <p:nvSpPr>
            <p:cNvPr id="226" name="Google Shape;226;p1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7"/>
          <p:cNvSpPr txBox="1"/>
          <p:nvPr/>
        </p:nvSpPr>
        <p:spPr>
          <a:xfrm>
            <a:off x="1999631" y="1882054"/>
            <a:ext cx="7503764" cy="905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Requisitos</a:t>
            </a:r>
            <a:endParaRPr b="1" i="0" sz="5500" u="none" cap="none" strike="noStrike">
              <a:solidFill>
                <a:srgbClr val="201E1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9" name="Google Shape;229;p17"/>
          <p:cNvSpPr txBox="1"/>
          <p:nvPr/>
        </p:nvSpPr>
        <p:spPr>
          <a:xfrm>
            <a:off x="1999631" y="4807505"/>
            <a:ext cx="2917509" cy="1002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5113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Histórico de compras anteriores</a:t>
            </a:r>
            <a:endParaRPr/>
          </a:p>
          <a:p>
            <a:pPr indent="-15113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01E1E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Criar, editar e organizar listas</a:t>
            </a:r>
            <a:endParaRPr/>
          </a:p>
          <a:p>
            <a:pPr indent="-15113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01E1E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Imprimir lista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1999631" y="4311735"/>
            <a:ext cx="2343944" cy="35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Gestão de Listas</a:t>
            </a:r>
            <a:endParaRPr/>
          </a:p>
        </p:txBody>
      </p:sp>
      <p:sp>
        <p:nvSpPr>
          <p:cNvPr id="231" name="Google Shape;231;p17"/>
          <p:cNvSpPr txBox="1"/>
          <p:nvPr/>
        </p:nvSpPr>
        <p:spPr>
          <a:xfrm>
            <a:off x="5564743" y="5149847"/>
            <a:ext cx="2917509" cy="5073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85750" lvl="0" marL="28575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01E1E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Interface intuitiva para todas as idades.</a:t>
            </a:r>
            <a:endParaRPr/>
          </a:p>
        </p:txBody>
      </p:sp>
      <p:sp>
        <p:nvSpPr>
          <p:cNvPr id="232" name="Google Shape;232;p17"/>
          <p:cNvSpPr txBox="1"/>
          <p:nvPr/>
        </p:nvSpPr>
        <p:spPr>
          <a:xfrm>
            <a:off x="5564743" y="4311735"/>
            <a:ext cx="2343944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Usabilidade e Acessibilidade</a:t>
            </a:r>
            <a:endParaRPr/>
          </a:p>
        </p:txBody>
      </p:sp>
      <p:sp>
        <p:nvSpPr>
          <p:cNvPr id="233" name="Google Shape;233;p17"/>
          <p:cNvSpPr txBox="1"/>
          <p:nvPr/>
        </p:nvSpPr>
        <p:spPr>
          <a:xfrm>
            <a:off x="1999631" y="6999694"/>
            <a:ext cx="2917509" cy="755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5113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01E1E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Alertas de promoções</a:t>
            </a:r>
            <a:endParaRPr/>
          </a:p>
          <a:p>
            <a:pPr indent="-15113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01E1E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Localização de melhores preços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1999631" y="6155144"/>
            <a:ext cx="2343944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Comparação de Precos</a:t>
            </a:r>
            <a:endParaRPr/>
          </a:p>
        </p:txBody>
      </p:sp>
      <p:sp>
        <p:nvSpPr>
          <p:cNvPr id="235" name="Google Shape;235;p17"/>
          <p:cNvSpPr/>
          <p:nvPr/>
        </p:nvSpPr>
        <p:spPr>
          <a:xfrm flipH="1" rot="-5400000">
            <a:off x="-3721713" y="8159274"/>
            <a:ext cx="5641167" cy="4779607"/>
          </a:xfrm>
          <a:custGeom>
            <a:rect b="b" l="l" r="r" t="t"/>
            <a:pathLst>
              <a:path extrusionOk="0" h="4779607" w="5641167">
                <a:moveTo>
                  <a:pt x="5641167" y="0"/>
                </a:moveTo>
                <a:lnTo>
                  <a:pt x="0" y="0"/>
                </a:lnTo>
                <a:lnTo>
                  <a:pt x="0" y="4779607"/>
                </a:lnTo>
                <a:lnTo>
                  <a:pt x="5641167" y="4779607"/>
                </a:lnTo>
                <a:lnTo>
                  <a:pt x="5641167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6" name="Google Shape;236;p17"/>
          <p:cNvSpPr/>
          <p:nvPr/>
        </p:nvSpPr>
        <p:spPr>
          <a:xfrm rot="1448240">
            <a:off x="14215142" y="-3365191"/>
            <a:ext cx="7583245" cy="6425076"/>
          </a:xfrm>
          <a:custGeom>
            <a:rect b="b" l="l" r="r" t="t"/>
            <a:pathLst>
              <a:path extrusionOk="0" h="6425076" w="7583245">
                <a:moveTo>
                  <a:pt x="0" y="0"/>
                </a:moveTo>
                <a:lnTo>
                  <a:pt x="7583245" y="0"/>
                </a:lnTo>
                <a:lnTo>
                  <a:pt x="7583245" y="6425077"/>
                </a:lnTo>
                <a:lnTo>
                  <a:pt x="0" y="64250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7" name="Google Shape;237;p17"/>
          <p:cNvSpPr/>
          <p:nvPr/>
        </p:nvSpPr>
        <p:spPr>
          <a:xfrm>
            <a:off x="10432565" y="7614646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1"/>
                </a:lnTo>
                <a:lnTo>
                  <a:pt x="0" y="5724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8" name="Google Shape;238;p17"/>
          <p:cNvSpPr/>
          <p:nvPr/>
        </p:nvSpPr>
        <p:spPr>
          <a:xfrm>
            <a:off x="15629905" y="2229114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9" name="Google Shape;239;p17"/>
          <p:cNvSpPr/>
          <p:nvPr/>
        </p:nvSpPr>
        <p:spPr>
          <a:xfrm>
            <a:off x="10432565" y="2304901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0" name="Google Shape;240;p17"/>
          <p:cNvSpPr/>
          <p:nvPr/>
        </p:nvSpPr>
        <p:spPr>
          <a:xfrm>
            <a:off x="15460942" y="7442284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1" name="Google Shape;241;p17"/>
          <p:cNvSpPr txBox="1"/>
          <p:nvPr/>
        </p:nvSpPr>
        <p:spPr>
          <a:xfrm>
            <a:off x="5564743" y="6372132"/>
            <a:ext cx="2917509" cy="512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85750" lvl="0" marL="28575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01E1E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Proteção de seus dados e históricos</a:t>
            </a:r>
            <a:endParaRPr b="0" i="0" sz="1400" u="none" cap="none" strike="noStrike">
              <a:solidFill>
                <a:srgbClr val="201E1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2" name="Google Shape;242;p17"/>
          <p:cNvSpPr txBox="1"/>
          <p:nvPr/>
        </p:nvSpPr>
        <p:spPr>
          <a:xfrm>
            <a:off x="5564743" y="5876361"/>
            <a:ext cx="2343944" cy="35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Segurança</a:t>
            </a:r>
            <a:endParaRPr/>
          </a:p>
        </p:txBody>
      </p:sp>
      <p:sp>
        <p:nvSpPr>
          <p:cNvPr id="243" name="Google Shape;243;p17"/>
          <p:cNvSpPr txBox="1"/>
          <p:nvPr/>
        </p:nvSpPr>
        <p:spPr>
          <a:xfrm>
            <a:off x="5564743" y="7346691"/>
            <a:ext cx="2917509" cy="512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85750" lvl="0" marL="28575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01E1E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Rapidez e efetividade na atualização dos preços</a:t>
            </a:r>
            <a:endParaRPr b="0" i="0" sz="1400" u="none" cap="none" strike="noStrike">
              <a:solidFill>
                <a:srgbClr val="201E1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4" name="Google Shape;244;p17"/>
          <p:cNvSpPr txBox="1"/>
          <p:nvPr/>
        </p:nvSpPr>
        <p:spPr>
          <a:xfrm>
            <a:off x="5564743" y="6850921"/>
            <a:ext cx="2705739" cy="35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Tempo de resposta</a:t>
            </a:r>
            <a:endParaRPr/>
          </a:p>
        </p:txBody>
      </p:sp>
      <p:sp>
        <p:nvSpPr>
          <p:cNvPr id="245" name="Google Shape;245;p17"/>
          <p:cNvSpPr txBox="1"/>
          <p:nvPr/>
        </p:nvSpPr>
        <p:spPr>
          <a:xfrm>
            <a:off x="5564743" y="8332651"/>
            <a:ext cx="2917509" cy="2426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85750" lvl="0" marL="28575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01E1E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Site inteiramente responsivo</a:t>
            </a:r>
            <a:endParaRPr b="0" i="0" sz="1400" u="none" cap="none" strike="noStrike">
              <a:solidFill>
                <a:srgbClr val="201E1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6" name="Google Shape;246;p17"/>
          <p:cNvSpPr txBox="1"/>
          <p:nvPr/>
        </p:nvSpPr>
        <p:spPr>
          <a:xfrm>
            <a:off x="5564743" y="7836881"/>
            <a:ext cx="2705739" cy="35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Responsividade</a:t>
            </a:r>
            <a:endParaRPr/>
          </a:p>
        </p:txBody>
      </p:sp>
      <p:pic>
        <p:nvPicPr>
          <p:cNvPr id="247" name="Google Shape;247;p17" title="LogoPoupaAI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90175" y="455350"/>
            <a:ext cx="1641742" cy="40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8"/>
          <p:cNvSpPr/>
          <p:nvPr/>
        </p:nvSpPr>
        <p:spPr>
          <a:xfrm flipH="1" rot="2293275">
            <a:off x="-2764734" y="2537659"/>
            <a:ext cx="12609494" cy="10683680"/>
          </a:xfrm>
          <a:custGeom>
            <a:rect b="b" l="l" r="r" t="t"/>
            <a:pathLst>
              <a:path extrusionOk="0" h="10683680" w="12609494">
                <a:moveTo>
                  <a:pt x="12609494" y="0"/>
                </a:moveTo>
                <a:lnTo>
                  <a:pt x="0" y="0"/>
                </a:lnTo>
                <a:lnTo>
                  <a:pt x="0" y="10683680"/>
                </a:lnTo>
                <a:lnTo>
                  <a:pt x="12609494" y="10683680"/>
                </a:lnTo>
                <a:lnTo>
                  <a:pt x="126094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53" name="Google Shape;253;p18"/>
          <p:cNvGrpSpPr/>
          <p:nvPr/>
        </p:nvGrpSpPr>
        <p:grpSpPr>
          <a:xfrm>
            <a:off x="4680624" y="463729"/>
            <a:ext cx="1039833" cy="1039833"/>
            <a:chOff x="0" y="0"/>
            <a:chExt cx="812800" cy="812800"/>
          </a:xfrm>
        </p:grpSpPr>
        <p:sp>
          <p:nvSpPr>
            <p:cNvPr id="254" name="Google Shape;254;p1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6" name="Google Shape;256;p18"/>
          <p:cNvGrpSpPr/>
          <p:nvPr/>
        </p:nvGrpSpPr>
        <p:grpSpPr>
          <a:xfrm>
            <a:off x="5265390" y="1668985"/>
            <a:ext cx="2535947" cy="752927"/>
            <a:chOff x="0" y="-38100"/>
            <a:chExt cx="1497129" cy="444500"/>
          </a:xfrm>
        </p:grpSpPr>
        <p:sp>
          <p:nvSpPr>
            <p:cNvPr id="257" name="Google Shape;257;p18"/>
            <p:cNvSpPr/>
            <p:nvPr/>
          </p:nvSpPr>
          <p:spPr>
            <a:xfrm>
              <a:off x="0" y="0"/>
              <a:ext cx="1497129" cy="406400"/>
            </a:xfrm>
            <a:custGeom>
              <a:rect b="b" l="l" r="r" t="t"/>
              <a:pathLst>
                <a:path extrusionOk="0" h="406400" w="1497129">
                  <a:moveTo>
                    <a:pt x="1293929" y="0"/>
                  </a:moveTo>
                  <a:cubicBezTo>
                    <a:pt x="1406154" y="0"/>
                    <a:pt x="1497129" y="90976"/>
                    <a:pt x="1497129" y="203200"/>
                  </a:cubicBezTo>
                  <a:cubicBezTo>
                    <a:pt x="1497129" y="315424"/>
                    <a:pt x="1406154" y="406400"/>
                    <a:pt x="129392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>
              <a:gsLst>
                <a:gs pos="0">
                  <a:srgbClr val="89D957"/>
                </a:gs>
                <a:gs pos="100000">
                  <a:srgbClr val="C9E265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8"/>
            <p:cNvSpPr txBox="1"/>
            <p:nvPr/>
          </p:nvSpPr>
          <p:spPr>
            <a:xfrm>
              <a:off x="0" y="-38100"/>
              <a:ext cx="1497129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9" name="Google Shape;259;p18"/>
          <p:cNvSpPr txBox="1"/>
          <p:nvPr/>
        </p:nvSpPr>
        <p:spPr>
          <a:xfrm>
            <a:off x="5008453" y="522699"/>
            <a:ext cx="8598923" cy="905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Projeto da Interface</a:t>
            </a:r>
            <a:endParaRPr/>
          </a:p>
        </p:txBody>
      </p:sp>
      <p:sp>
        <p:nvSpPr>
          <p:cNvPr id="260" name="Google Shape;260;p18"/>
          <p:cNvSpPr/>
          <p:nvPr/>
        </p:nvSpPr>
        <p:spPr>
          <a:xfrm rot="1448240">
            <a:off x="16530095" y="-2022399"/>
            <a:ext cx="5641167" cy="4779607"/>
          </a:xfrm>
          <a:custGeom>
            <a:rect b="b" l="l" r="r" t="t"/>
            <a:pathLst>
              <a:path extrusionOk="0" h="4779607" w="5641167">
                <a:moveTo>
                  <a:pt x="0" y="0"/>
                </a:moveTo>
                <a:lnTo>
                  <a:pt x="5641167" y="0"/>
                </a:lnTo>
                <a:lnTo>
                  <a:pt x="5641167" y="4779607"/>
                </a:lnTo>
                <a:lnTo>
                  <a:pt x="0" y="47796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1" name="Google Shape;261;p18"/>
          <p:cNvSpPr/>
          <p:nvPr/>
        </p:nvSpPr>
        <p:spPr>
          <a:xfrm>
            <a:off x="2645852" y="1102313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2" name="Google Shape;262;p18"/>
          <p:cNvSpPr/>
          <p:nvPr/>
        </p:nvSpPr>
        <p:spPr>
          <a:xfrm>
            <a:off x="4646543" y="9079320"/>
            <a:ext cx="1073914" cy="1073914"/>
          </a:xfrm>
          <a:custGeom>
            <a:rect b="b" l="l" r="r" t="t"/>
            <a:pathLst>
              <a:path extrusionOk="0" h="1073914" w="1073914">
                <a:moveTo>
                  <a:pt x="0" y="0"/>
                </a:moveTo>
                <a:lnTo>
                  <a:pt x="1073913" y="0"/>
                </a:lnTo>
                <a:lnTo>
                  <a:pt x="1073913" y="1073914"/>
                </a:lnTo>
                <a:lnTo>
                  <a:pt x="0" y="10739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3" name="Google Shape;263;p18"/>
          <p:cNvSpPr/>
          <p:nvPr/>
        </p:nvSpPr>
        <p:spPr>
          <a:xfrm>
            <a:off x="1028700" y="8685813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4" name="Google Shape;264;p18"/>
          <p:cNvSpPr txBox="1"/>
          <p:nvPr/>
        </p:nvSpPr>
        <p:spPr>
          <a:xfrm>
            <a:off x="15203714" y="9587702"/>
            <a:ext cx="2470802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265" name="Google Shape;265;p18"/>
          <p:cNvSpPr txBox="1"/>
          <p:nvPr/>
        </p:nvSpPr>
        <p:spPr>
          <a:xfrm>
            <a:off x="4933092" y="1892573"/>
            <a:ext cx="3200543" cy="3257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8" u="none" cap="none" strike="noStrike">
                <a:solidFill>
                  <a:srgbClr val="003728"/>
                </a:solidFill>
                <a:latin typeface="Poppins"/>
                <a:ea typeface="Poppins"/>
                <a:cs typeface="Poppins"/>
                <a:sym typeface="Poppins"/>
              </a:rPr>
              <a:t>COMPARAÇÃO</a:t>
            </a:r>
            <a:endParaRPr b="1" i="0" sz="2108" u="none" cap="none" strike="noStrike">
              <a:solidFill>
                <a:srgbClr val="00372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266" name="Google Shape;266;p18"/>
          <p:cNvGrpSpPr/>
          <p:nvPr/>
        </p:nvGrpSpPr>
        <p:grpSpPr>
          <a:xfrm>
            <a:off x="1360998" y="1668985"/>
            <a:ext cx="2535947" cy="752927"/>
            <a:chOff x="0" y="-38100"/>
            <a:chExt cx="1497129" cy="444500"/>
          </a:xfrm>
        </p:grpSpPr>
        <p:sp>
          <p:nvSpPr>
            <p:cNvPr id="267" name="Google Shape;267;p18"/>
            <p:cNvSpPr/>
            <p:nvPr/>
          </p:nvSpPr>
          <p:spPr>
            <a:xfrm>
              <a:off x="0" y="0"/>
              <a:ext cx="1497129" cy="406400"/>
            </a:xfrm>
            <a:custGeom>
              <a:rect b="b" l="l" r="r" t="t"/>
              <a:pathLst>
                <a:path extrusionOk="0" h="406400" w="1497129">
                  <a:moveTo>
                    <a:pt x="1293929" y="0"/>
                  </a:moveTo>
                  <a:cubicBezTo>
                    <a:pt x="1406154" y="0"/>
                    <a:pt x="1497129" y="90976"/>
                    <a:pt x="1497129" y="203200"/>
                  </a:cubicBezTo>
                  <a:cubicBezTo>
                    <a:pt x="1497129" y="315424"/>
                    <a:pt x="1406154" y="406400"/>
                    <a:pt x="129392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>
              <a:gsLst>
                <a:gs pos="0">
                  <a:srgbClr val="89D957"/>
                </a:gs>
                <a:gs pos="100000">
                  <a:srgbClr val="C9E265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18"/>
            <p:cNvSpPr txBox="1"/>
            <p:nvPr/>
          </p:nvSpPr>
          <p:spPr>
            <a:xfrm>
              <a:off x="0" y="-38100"/>
              <a:ext cx="1497129" cy="44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9" name="Google Shape;269;p18"/>
          <p:cNvSpPr txBox="1"/>
          <p:nvPr/>
        </p:nvSpPr>
        <p:spPr>
          <a:xfrm>
            <a:off x="1028700" y="1892573"/>
            <a:ext cx="3200543" cy="3257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4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8" u="none" cap="none" strike="noStrike">
                <a:solidFill>
                  <a:srgbClr val="003728"/>
                </a:solidFill>
                <a:latin typeface="Poppins"/>
                <a:ea typeface="Poppins"/>
                <a:cs typeface="Poppins"/>
                <a:sym typeface="Poppins"/>
              </a:rPr>
              <a:t>LOGIN</a:t>
            </a:r>
            <a:endParaRPr/>
          </a:p>
        </p:txBody>
      </p:sp>
      <p:pic>
        <p:nvPicPr>
          <p:cNvPr id="270" name="Google Shape;270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19718" y="2906275"/>
            <a:ext cx="3178147" cy="688174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87783" y="2850710"/>
            <a:ext cx="3292716" cy="69446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2" name="Google Shape;272;p18"/>
          <p:cNvGrpSpPr/>
          <p:nvPr/>
        </p:nvGrpSpPr>
        <p:grpSpPr>
          <a:xfrm>
            <a:off x="712271" y="2651873"/>
            <a:ext cx="3705480" cy="7330134"/>
            <a:chOff x="0" y="0"/>
            <a:chExt cx="2620010" cy="5182870"/>
          </a:xfrm>
        </p:grpSpPr>
        <p:sp>
          <p:nvSpPr>
            <p:cNvPr id="273" name="Google Shape;273;p18"/>
            <p:cNvSpPr/>
            <p:nvPr/>
          </p:nvSpPr>
          <p:spPr>
            <a:xfrm>
              <a:off x="53340" y="25400"/>
              <a:ext cx="2513330" cy="5132070"/>
            </a:xfrm>
            <a:custGeom>
              <a:rect b="b" l="l" r="r" t="t"/>
              <a:pathLst>
                <a:path extrusionOk="0" h="5132070" w="251333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18"/>
            <p:cNvSpPr/>
            <p:nvPr/>
          </p:nvSpPr>
          <p:spPr>
            <a:xfrm>
              <a:off x="1121410" y="198120"/>
              <a:ext cx="347980" cy="43180"/>
            </a:xfrm>
            <a:custGeom>
              <a:rect b="b" l="l" r="r" t="t"/>
              <a:pathLst>
                <a:path extrusionOk="0" h="43180" w="3479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8"/>
            <p:cNvSpPr/>
            <p:nvPr/>
          </p:nvSpPr>
          <p:spPr>
            <a:xfrm>
              <a:off x="1578312" y="187909"/>
              <a:ext cx="66636" cy="63602"/>
            </a:xfrm>
            <a:custGeom>
              <a:rect b="b" l="l" r="r" t="t"/>
              <a:pathLst>
                <a:path extrusionOk="0" h="63602" w="66636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18"/>
            <p:cNvSpPr/>
            <p:nvPr/>
          </p:nvSpPr>
          <p:spPr>
            <a:xfrm>
              <a:off x="0" y="685800"/>
              <a:ext cx="27940" cy="213360"/>
            </a:xfrm>
            <a:custGeom>
              <a:rect b="b" l="l" r="r" t="t"/>
              <a:pathLst>
                <a:path extrusionOk="0" h="213360" w="2794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18"/>
            <p:cNvSpPr/>
            <p:nvPr/>
          </p:nvSpPr>
          <p:spPr>
            <a:xfrm>
              <a:off x="0" y="1057910"/>
              <a:ext cx="27940" cy="384810"/>
            </a:xfrm>
            <a:custGeom>
              <a:rect b="b" l="l" r="r" t="t"/>
              <a:pathLst>
                <a:path extrusionOk="0" h="384810" w="2794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18"/>
            <p:cNvSpPr/>
            <p:nvPr/>
          </p:nvSpPr>
          <p:spPr>
            <a:xfrm>
              <a:off x="0" y="1526540"/>
              <a:ext cx="27940" cy="386080"/>
            </a:xfrm>
            <a:custGeom>
              <a:rect b="b" l="l" r="r" t="t"/>
              <a:pathLst>
                <a:path extrusionOk="0" h="386080" w="2794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18"/>
            <p:cNvSpPr/>
            <p:nvPr/>
          </p:nvSpPr>
          <p:spPr>
            <a:xfrm>
              <a:off x="2592070" y="1184910"/>
              <a:ext cx="27940" cy="618490"/>
            </a:xfrm>
            <a:custGeom>
              <a:rect b="b" l="l" r="r" t="t"/>
              <a:pathLst>
                <a:path extrusionOk="0" h="618490" w="2794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18"/>
            <p:cNvSpPr/>
            <p:nvPr/>
          </p:nvSpPr>
          <p:spPr>
            <a:xfrm>
              <a:off x="27940" y="0"/>
              <a:ext cx="2564130" cy="5182870"/>
            </a:xfrm>
            <a:custGeom>
              <a:rect b="b" l="l" r="r" t="t"/>
              <a:pathLst>
                <a:path extrusionOk="0" h="5182870" w="256413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281" name="Google Shape;281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75996" y="2873419"/>
            <a:ext cx="3145014" cy="681000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2" name="Google Shape;282;p18"/>
          <p:cNvGrpSpPr/>
          <p:nvPr/>
        </p:nvGrpSpPr>
        <p:grpSpPr>
          <a:xfrm>
            <a:off x="4680624" y="2651873"/>
            <a:ext cx="3705480" cy="7330134"/>
            <a:chOff x="0" y="0"/>
            <a:chExt cx="2620010" cy="5182870"/>
          </a:xfrm>
        </p:grpSpPr>
        <p:sp>
          <p:nvSpPr>
            <p:cNvPr id="283" name="Google Shape;283;p18"/>
            <p:cNvSpPr/>
            <p:nvPr/>
          </p:nvSpPr>
          <p:spPr>
            <a:xfrm>
              <a:off x="53340" y="25400"/>
              <a:ext cx="2513330" cy="5132070"/>
            </a:xfrm>
            <a:custGeom>
              <a:rect b="b" l="l" r="r" t="t"/>
              <a:pathLst>
                <a:path extrusionOk="0" h="5132070" w="251333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18"/>
            <p:cNvSpPr/>
            <p:nvPr/>
          </p:nvSpPr>
          <p:spPr>
            <a:xfrm>
              <a:off x="185420" y="156210"/>
              <a:ext cx="2251710" cy="4876800"/>
            </a:xfrm>
            <a:custGeom>
              <a:rect b="b" l="l" r="r" t="t"/>
              <a:pathLst>
                <a:path extrusionOk="0" h="4876800" w="225171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18"/>
            <p:cNvSpPr/>
            <p:nvPr/>
          </p:nvSpPr>
          <p:spPr>
            <a:xfrm>
              <a:off x="1121410" y="198120"/>
              <a:ext cx="347980" cy="43180"/>
            </a:xfrm>
            <a:custGeom>
              <a:rect b="b" l="l" r="r" t="t"/>
              <a:pathLst>
                <a:path extrusionOk="0" h="43180" w="3479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18"/>
            <p:cNvSpPr/>
            <p:nvPr/>
          </p:nvSpPr>
          <p:spPr>
            <a:xfrm>
              <a:off x="1578312" y="187909"/>
              <a:ext cx="66636" cy="63602"/>
            </a:xfrm>
            <a:custGeom>
              <a:rect b="b" l="l" r="r" t="t"/>
              <a:pathLst>
                <a:path extrusionOk="0" h="63602" w="66636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8"/>
            <p:cNvSpPr/>
            <p:nvPr/>
          </p:nvSpPr>
          <p:spPr>
            <a:xfrm>
              <a:off x="0" y="685800"/>
              <a:ext cx="27940" cy="213360"/>
            </a:xfrm>
            <a:custGeom>
              <a:rect b="b" l="l" r="r" t="t"/>
              <a:pathLst>
                <a:path extrusionOk="0" h="213360" w="2794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8"/>
            <p:cNvSpPr/>
            <p:nvPr/>
          </p:nvSpPr>
          <p:spPr>
            <a:xfrm>
              <a:off x="0" y="1057910"/>
              <a:ext cx="27940" cy="384810"/>
            </a:xfrm>
            <a:custGeom>
              <a:rect b="b" l="l" r="r" t="t"/>
              <a:pathLst>
                <a:path extrusionOk="0" h="384810" w="2794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18"/>
            <p:cNvSpPr/>
            <p:nvPr/>
          </p:nvSpPr>
          <p:spPr>
            <a:xfrm>
              <a:off x="0" y="1526540"/>
              <a:ext cx="27940" cy="386080"/>
            </a:xfrm>
            <a:custGeom>
              <a:rect b="b" l="l" r="r" t="t"/>
              <a:pathLst>
                <a:path extrusionOk="0" h="386080" w="2794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18"/>
            <p:cNvSpPr/>
            <p:nvPr/>
          </p:nvSpPr>
          <p:spPr>
            <a:xfrm>
              <a:off x="2592070" y="1184910"/>
              <a:ext cx="27940" cy="618490"/>
            </a:xfrm>
            <a:custGeom>
              <a:rect b="b" l="l" r="r" t="t"/>
              <a:pathLst>
                <a:path extrusionOk="0" h="618490" w="2794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18"/>
            <p:cNvSpPr/>
            <p:nvPr/>
          </p:nvSpPr>
          <p:spPr>
            <a:xfrm>
              <a:off x="27940" y="0"/>
              <a:ext cx="2564130" cy="5182870"/>
            </a:xfrm>
            <a:custGeom>
              <a:rect b="b" l="l" r="r" t="t"/>
              <a:pathLst>
                <a:path extrusionOk="0" h="5182870" w="256413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292" name="Google Shape;292;p18" title="LogoPoupaAI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94038" y="463725"/>
            <a:ext cx="1641742" cy="40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889588" y="2873436"/>
            <a:ext cx="3145000" cy="68099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4" name="Google Shape;294;p18"/>
          <p:cNvGrpSpPr/>
          <p:nvPr/>
        </p:nvGrpSpPr>
        <p:grpSpPr>
          <a:xfrm>
            <a:off x="8609349" y="2682085"/>
            <a:ext cx="3705480" cy="7330133"/>
            <a:chOff x="0" y="0"/>
            <a:chExt cx="2620010" cy="5182870"/>
          </a:xfrm>
        </p:grpSpPr>
        <p:sp>
          <p:nvSpPr>
            <p:cNvPr id="295" name="Google Shape;295;p18"/>
            <p:cNvSpPr/>
            <p:nvPr/>
          </p:nvSpPr>
          <p:spPr>
            <a:xfrm>
              <a:off x="53340" y="25400"/>
              <a:ext cx="2513330" cy="5132070"/>
            </a:xfrm>
            <a:custGeom>
              <a:rect b="b" l="l" r="r" t="t"/>
              <a:pathLst>
                <a:path extrusionOk="0" h="5132070" w="251333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18"/>
            <p:cNvSpPr/>
            <p:nvPr/>
          </p:nvSpPr>
          <p:spPr>
            <a:xfrm>
              <a:off x="185420" y="156210"/>
              <a:ext cx="2251710" cy="4876800"/>
            </a:xfrm>
            <a:custGeom>
              <a:rect b="b" l="l" r="r" t="t"/>
              <a:pathLst>
                <a:path extrusionOk="0" h="4876800" w="225171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18"/>
            <p:cNvSpPr/>
            <p:nvPr/>
          </p:nvSpPr>
          <p:spPr>
            <a:xfrm>
              <a:off x="1121410" y="198120"/>
              <a:ext cx="347980" cy="43180"/>
            </a:xfrm>
            <a:custGeom>
              <a:rect b="b" l="l" r="r" t="t"/>
              <a:pathLst>
                <a:path extrusionOk="0" h="43180" w="3479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18"/>
            <p:cNvSpPr/>
            <p:nvPr/>
          </p:nvSpPr>
          <p:spPr>
            <a:xfrm>
              <a:off x="1578312" y="187909"/>
              <a:ext cx="66636" cy="63602"/>
            </a:xfrm>
            <a:custGeom>
              <a:rect b="b" l="l" r="r" t="t"/>
              <a:pathLst>
                <a:path extrusionOk="0" h="63602" w="66636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18"/>
            <p:cNvSpPr/>
            <p:nvPr/>
          </p:nvSpPr>
          <p:spPr>
            <a:xfrm>
              <a:off x="0" y="685800"/>
              <a:ext cx="27940" cy="213360"/>
            </a:xfrm>
            <a:custGeom>
              <a:rect b="b" l="l" r="r" t="t"/>
              <a:pathLst>
                <a:path extrusionOk="0" h="213360" w="2794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18"/>
            <p:cNvSpPr/>
            <p:nvPr/>
          </p:nvSpPr>
          <p:spPr>
            <a:xfrm>
              <a:off x="0" y="1057910"/>
              <a:ext cx="27940" cy="384810"/>
            </a:xfrm>
            <a:custGeom>
              <a:rect b="b" l="l" r="r" t="t"/>
              <a:pathLst>
                <a:path extrusionOk="0" h="384810" w="2794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18"/>
            <p:cNvSpPr/>
            <p:nvPr/>
          </p:nvSpPr>
          <p:spPr>
            <a:xfrm>
              <a:off x="0" y="1526540"/>
              <a:ext cx="27940" cy="386080"/>
            </a:xfrm>
            <a:custGeom>
              <a:rect b="b" l="l" r="r" t="t"/>
              <a:pathLst>
                <a:path extrusionOk="0" h="386080" w="2794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18"/>
            <p:cNvSpPr/>
            <p:nvPr/>
          </p:nvSpPr>
          <p:spPr>
            <a:xfrm>
              <a:off x="2592070" y="1184910"/>
              <a:ext cx="27940" cy="618490"/>
            </a:xfrm>
            <a:custGeom>
              <a:rect b="b" l="l" r="r" t="t"/>
              <a:pathLst>
                <a:path extrusionOk="0" h="618490" w="2794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18"/>
            <p:cNvSpPr/>
            <p:nvPr/>
          </p:nvSpPr>
          <p:spPr>
            <a:xfrm>
              <a:off x="27940" y="0"/>
              <a:ext cx="2564130" cy="5182870"/>
            </a:xfrm>
            <a:custGeom>
              <a:rect b="b" l="l" r="r" t="t"/>
              <a:pathLst>
                <a:path extrusionOk="0" h="5182870" w="256413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4" name="Google Shape;304;p18"/>
          <p:cNvGrpSpPr/>
          <p:nvPr/>
        </p:nvGrpSpPr>
        <p:grpSpPr>
          <a:xfrm>
            <a:off x="9169740" y="1678584"/>
            <a:ext cx="2535987" cy="753108"/>
            <a:chOff x="0" y="-38100"/>
            <a:chExt cx="1497129" cy="444600"/>
          </a:xfrm>
        </p:grpSpPr>
        <p:sp>
          <p:nvSpPr>
            <p:cNvPr id="305" name="Google Shape;305;p18"/>
            <p:cNvSpPr/>
            <p:nvPr/>
          </p:nvSpPr>
          <p:spPr>
            <a:xfrm>
              <a:off x="0" y="0"/>
              <a:ext cx="1497129" cy="406400"/>
            </a:xfrm>
            <a:custGeom>
              <a:rect b="b" l="l" r="r" t="t"/>
              <a:pathLst>
                <a:path extrusionOk="0" h="406400" w="1497129">
                  <a:moveTo>
                    <a:pt x="1293929" y="0"/>
                  </a:moveTo>
                  <a:cubicBezTo>
                    <a:pt x="1406154" y="0"/>
                    <a:pt x="1497129" y="90976"/>
                    <a:pt x="1497129" y="203200"/>
                  </a:cubicBezTo>
                  <a:cubicBezTo>
                    <a:pt x="1497129" y="315424"/>
                    <a:pt x="1406154" y="406400"/>
                    <a:pt x="129392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>
              <a:gsLst>
                <a:gs pos="0">
                  <a:srgbClr val="89D957"/>
                </a:gs>
                <a:gs pos="100000">
                  <a:srgbClr val="C9E265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18"/>
            <p:cNvSpPr txBox="1"/>
            <p:nvPr/>
          </p:nvSpPr>
          <p:spPr>
            <a:xfrm>
              <a:off x="0" y="-38100"/>
              <a:ext cx="14970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rtl="0" algn="ctr">
                <a:lnSpc>
                  <a:spcPct val="12400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8">
                  <a:solidFill>
                    <a:srgbClr val="003728"/>
                  </a:solidFill>
                  <a:latin typeface="Poppins"/>
                  <a:ea typeface="Poppins"/>
                  <a:cs typeface="Poppins"/>
                  <a:sym typeface="Poppins"/>
                </a:rPr>
                <a:t>LISTA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9"/>
          <p:cNvSpPr txBox="1"/>
          <p:nvPr/>
        </p:nvSpPr>
        <p:spPr>
          <a:xfrm>
            <a:off x="15203714" y="9587702"/>
            <a:ext cx="247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/>
          </a:p>
        </p:txBody>
      </p:sp>
      <p:sp>
        <p:nvSpPr>
          <p:cNvPr id="312" name="Google Shape;312;p19"/>
          <p:cNvSpPr/>
          <p:nvPr/>
        </p:nvSpPr>
        <p:spPr>
          <a:xfrm>
            <a:off x="15629898" y="3947953"/>
            <a:ext cx="2921000" cy="2920988"/>
          </a:xfrm>
          <a:custGeom>
            <a:rect b="b" l="l" r="r" t="t"/>
            <a:pathLst>
              <a:path extrusionOk="0" h="6349974" w="6350000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498" l="0" r="-215377" t="-105607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13" name="Google Shape;313;p19"/>
          <p:cNvGrpSpPr/>
          <p:nvPr/>
        </p:nvGrpSpPr>
        <p:grpSpPr>
          <a:xfrm>
            <a:off x="1789651" y="1784985"/>
            <a:ext cx="1039815" cy="1039815"/>
            <a:chOff x="0" y="0"/>
            <a:chExt cx="812800" cy="812800"/>
          </a:xfrm>
        </p:grpSpPr>
        <p:sp>
          <p:nvSpPr>
            <p:cNvPr id="314" name="Google Shape;314;p1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19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6" name="Google Shape;316;p19"/>
          <p:cNvSpPr txBox="1"/>
          <p:nvPr/>
        </p:nvSpPr>
        <p:spPr>
          <a:xfrm>
            <a:off x="1999620" y="1882050"/>
            <a:ext cx="14202600" cy="18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500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Organização da Equipe e Metodologia de Trabalho</a:t>
            </a:r>
            <a:r>
              <a:rPr b="1" i="0" lang="en-US" sz="5500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endParaRPr b="1" i="0" sz="5500" u="none" cap="none" strike="noStrike">
              <a:solidFill>
                <a:srgbClr val="201E1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1999625" y="4807500"/>
            <a:ext cx="9554100" cy="31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8288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>
                <a:latin typeface="Poppins"/>
                <a:ea typeface="Poppins"/>
                <a:cs typeface="Poppins"/>
                <a:sym typeface="Poppins"/>
              </a:rPr>
              <a:t>Metodologia Scrum com três sprints, planejadas em reuniões pelo Google Meet e alinhamentos contínuos durante o projeto.</a:t>
            </a:r>
            <a:endParaRPr sz="1900">
              <a:latin typeface="Poppins"/>
              <a:ea typeface="Poppins"/>
              <a:cs typeface="Poppins"/>
              <a:sym typeface="Poppins"/>
            </a:endParaRPr>
          </a:p>
          <a:p>
            <a:pPr indent="-18288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>
                <a:latin typeface="Poppins"/>
                <a:ea typeface="Poppins"/>
                <a:cs typeface="Poppins"/>
                <a:sym typeface="Poppins"/>
              </a:rPr>
              <a:t>Equipe autogerenciável, todos atuando no levantamento de requisitos e no desenvolvimento.</a:t>
            </a:r>
            <a:endParaRPr sz="2100">
              <a:latin typeface="Poppins"/>
              <a:ea typeface="Poppins"/>
              <a:cs typeface="Poppins"/>
              <a:sym typeface="Poppins"/>
            </a:endParaRPr>
          </a:p>
          <a:p>
            <a:pPr indent="-18288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>
                <a:latin typeface="Poppins"/>
                <a:ea typeface="Poppins"/>
                <a:cs typeface="Poppins"/>
                <a:sym typeface="Poppins"/>
              </a:rPr>
              <a:t>Tarefas individuais controladas por cada integrante e tarefas compartilhadas organizadas via grupo no WhatsApp.</a:t>
            </a:r>
            <a:endParaRPr sz="1900">
              <a:latin typeface="Poppins"/>
              <a:ea typeface="Poppins"/>
              <a:cs typeface="Poppins"/>
              <a:sym typeface="Poppins"/>
            </a:endParaRPr>
          </a:p>
          <a:p>
            <a:pPr indent="-18288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>
                <a:latin typeface="Poppins"/>
                <a:ea typeface="Poppins"/>
                <a:cs typeface="Poppins"/>
                <a:sym typeface="Poppins"/>
              </a:rPr>
              <a:t>Controle de versão no GitHub, com commits direto na master e uso de branches para trabalho simultâneo e merges posteriores.</a:t>
            </a:r>
            <a:endParaRPr sz="1900"/>
          </a:p>
        </p:txBody>
      </p:sp>
      <p:sp>
        <p:nvSpPr>
          <p:cNvPr id="318" name="Google Shape;318;p19"/>
          <p:cNvSpPr/>
          <p:nvPr/>
        </p:nvSpPr>
        <p:spPr>
          <a:xfrm flipH="1" rot="-5400000">
            <a:off x="-4047813" y="8342974"/>
            <a:ext cx="5641167" cy="4779607"/>
          </a:xfrm>
          <a:custGeom>
            <a:rect b="b" l="l" r="r" t="t"/>
            <a:pathLst>
              <a:path extrusionOk="0" h="4779607" w="5641167">
                <a:moveTo>
                  <a:pt x="5641167" y="0"/>
                </a:moveTo>
                <a:lnTo>
                  <a:pt x="0" y="0"/>
                </a:lnTo>
                <a:lnTo>
                  <a:pt x="0" y="4779607"/>
                </a:lnTo>
                <a:lnTo>
                  <a:pt x="5641167" y="4779607"/>
                </a:lnTo>
                <a:lnTo>
                  <a:pt x="5641167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9" name="Google Shape;319;p19"/>
          <p:cNvSpPr/>
          <p:nvPr/>
        </p:nvSpPr>
        <p:spPr>
          <a:xfrm rot="1451706">
            <a:off x="14209998" y="-3362548"/>
            <a:ext cx="7586112" cy="6427505"/>
          </a:xfrm>
          <a:custGeom>
            <a:rect b="b" l="l" r="r" t="t"/>
            <a:pathLst>
              <a:path extrusionOk="0" h="6425076" w="7583245">
                <a:moveTo>
                  <a:pt x="0" y="0"/>
                </a:moveTo>
                <a:lnTo>
                  <a:pt x="7583245" y="0"/>
                </a:lnTo>
                <a:lnTo>
                  <a:pt x="7583245" y="6425077"/>
                </a:lnTo>
                <a:lnTo>
                  <a:pt x="0" y="64250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0" name="Google Shape;320;p19"/>
          <p:cNvSpPr/>
          <p:nvPr/>
        </p:nvSpPr>
        <p:spPr>
          <a:xfrm>
            <a:off x="590165" y="4179421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1"/>
                </a:lnTo>
                <a:lnTo>
                  <a:pt x="0" y="5724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1" name="Google Shape;321;p19"/>
          <p:cNvSpPr/>
          <p:nvPr/>
        </p:nvSpPr>
        <p:spPr>
          <a:xfrm>
            <a:off x="16033355" y="2802214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2" name="Google Shape;322;p19"/>
          <p:cNvSpPr/>
          <p:nvPr/>
        </p:nvSpPr>
        <p:spPr>
          <a:xfrm>
            <a:off x="15460942" y="7442284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id="323" name="Google Shape;323;p19" title="LogoPoupaAI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0175" y="455350"/>
            <a:ext cx="1641742" cy="40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0"/>
          <p:cNvSpPr/>
          <p:nvPr/>
        </p:nvSpPr>
        <p:spPr>
          <a:xfrm flipH="1" rot="2291367">
            <a:off x="-2746581" y="2548470"/>
            <a:ext cx="12593920" cy="10670484"/>
          </a:xfrm>
          <a:custGeom>
            <a:rect b="b" l="l" r="r" t="t"/>
            <a:pathLst>
              <a:path extrusionOk="0" h="10683680" w="12609494">
                <a:moveTo>
                  <a:pt x="12609494" y="0"/>
                </a:moveTo>
                <a:lnTo>
                  <a:pt x="0" y="0"/>
                </a:lnTo>
                <a:lnTo>
                  <a:pt x="0" y="10683680"/>
                </a:lnTo>
                <a:lnTo>
                  <a:pt x="12609494" y="10683680"/>
                </a:lnTo>
                <a:lnTo>
                  <a:pt x="126094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29" name="Google Shape;329;p20"/>
          <p:cNvGrpSpPr/>
          <p:nvPr/>
        </p:nvGrpSpPr>
        <p:grpSpPr>
          <a:xfrm>
            <a:off x="4680624" y="463729"/>
            <a:ext cx="1039815" cy="1039815"/>
            <a:chOff x="0" y="0"/>
            <a:chExt cx="812800" cy="812800"/>
          </a:xfrm>
        </p:grpSpPr>
        <p:sp>
          <p:nvSpPr>
            <p:cNvPr id="330" name="Google Shape;330;p20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20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20"/>
          <p:cNvGrpSpPr/>
          <p:nvPr/>
        </p:nvGrpSpPr>
        <p:grpSpPr>
          <a:xfrm>
            <a:off x="10751790" y="9303547"/>
            <a:ext cx="2535987" cy="753108"/>
            <a:chOff x="0" y="-38100"/>
            <a:chExt cx="1497129" cy="444600"/>
          </a:xfrm>
        </p:grpSpPr>
        <p:sp>
          <p:nvSpPr>
            <p:cNvPr id="333" name="Google Shape;333;p20"/>
            <p:cNvSpPr/>
            <p:nvPr/>
          </p:nvSpPr>
          <p:spPr>
            <a:xfrm>
              <a:off x="0" y="0"/>
              <a:ext cx="1497129" cy="406400"/>
            </a:xfrm>
            <a:custGeom>
              <a:rect b="b" l="l" r="r" t="t"/>
              <a:pathLst>
                <a:path extrusionOk="0" h="406400" w="1497129">
                  <a:moveTo>
                    <a:pt x="1293929" y="0"/>
                  </a:moveTo>
                  <a:cubicBezTo>
                    <a:pt x="1406154" y="0"/>
                    <a:pt x="1497129" y="90976"/>
                    <a:pt x="1497129" y="203200"/>
                  </a:cubicBezTo>
                  <a:cubicBezTo>
                    <a:pt x="1497129" y="315424"/>
                    <a:pt x="1406154" y="406400"/>
                    <a:pt x="129392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>
              <a:gsLst>
                <a:gs pos="0">
                  <a:srgbClr val="89D957"/>
                </a:gs>
                <a:gs pos="100000">
                  <a:srgbClr val="C9E265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20"/>
            <p:cNvSpPr txBox="1"/>
            <p:nvPr/>
          </p:nvSpPr>
          <p:spPr>
            <a:xfrm>
              <a:off x="0" y="-38100"/>
              <a:ext cx="14970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5" name="Google Shape;335;p20"/>
          <p:cNvSpPr txBox="1"/>
          <p:nvPr/>
        </p:nvSpPr>
        <p:spPr>
          <a:xfrm>
            <a:off x="4837049" y="440375"/>
            <a:ext cx="12298500" cy="18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500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Objetivo de desenvolvimento sustentável</a:t>
            </a:r>
            <a:endParaRPr/>
          </a:p>
        </p:txBody>
      </p:sp>
      <p:sp>
        <p:nvSpPr>
          <p:cNvPr id="336" name="Google Shape;336;p20"/>
          <p:cNvSpPr/>
          <p:nvPr/>
        </p:nvSpPr>
        <p:spPr>
          <a:xfrm rot="1451706">
            <a:off x="16526268" y="-2020433"/>
            <a:ext cx="5643300" cy="4781414"/>
          </a:xfrm>
          <a:custGeom>
            <a:rect b="b" l="l" r="r" t="t"/>
            <a:pathLst>
              <a:path extrusionOk="0" h="4779607" w="5641167">
                <a:moveTo>
                  <a:pt x="0" y="0"/>
                </a:moveTo>
                <a:lnTo>
                  <a:pt x="5641167" y="0"/>
                </a:lnTo>
                <a:lnTo>
                  <a:pt x="5641167" y="4779607"/>
                </a:lnTo>
                <a:lnTo>
                  <a:pt x="0" y="47796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7" name="Google Shape;337;p20"/>
          <p:cNvSpPr/>
          <p:nvPr/>
        </p:nvSpPr>
        <p:spPr>
          <a:xfrm>
            <a:off x="2645852" y="1102313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8" name="Google Shape;338;p20"/>
          <p:cNvSpPr/>
          <p:nvPr/>
        </p:nvSpPr>
        <p:spPr>
          <a:xfrm>
            <a:off x="4646543" y="9079320"/>
            <a:ext cx="1073914" cy="1073914"/>
          </a:xfrm>
          <a:custGeom>
            <a:rect b="b" l="l" r="r" t="t"/>
            <a:pathLst>
              <a:path extrusionOk="0" h="1073914" w="1073914">
                <a:moveTo>
                  <a:pt x="0" y="0"/>
                </a:moveTo>
                <a:lnTo>
                  <a:pt x="1073913" y="0"/>
                </a:lnTo>
                <a:lnTo>
                  <a:pt x="1073913" y="1073914"/>
                </a:lnTo>
                <a:lnTo>
                  <a:pt x="0" y="10739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9" name="Google Shape;339;p20"/>
          <p:cNvSpPr/>
          <p:nvPr/>
        </p:nvSpPr>
        <p:spPr>
          <a:xfrm>
            <a:off x="1028700" y="8685813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0" name="Google Shape;340;p20"/>
          <p:cNvSpPr txBox="1"/>
          <p:nvPr/>
        </p:nvSpPr>
        <p:spPr>
          <a:xfrm>
            <a:off x="15203714" y="9587702"/>
            <a:ext cx="247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pic>
        <p:nvPicPr>
          <p:cNvPr id="341" name="Google Shape;341;p20" title="LogoPoupaAI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4038" y="463725"/>
            <a:ext cx="1641742" cy="40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7878" y="5180209"/>
            <a:ext cx="6185009" cy="412334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20"/>
          <p:cNvSpPr txBox="1"/>
          <p:nvPr/>
        </p:nvSpPr>
        <p:spPr>
          <a:xfrm>
            <a:off x="6209250" y="3429000"/>
            <a:ext cx="9554100" cy="1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82880" lvl="1" marL="302261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•"/>
            </a:pPr>
            <a:r>
              <a:rPr lang="en-US" sz="1900">
                <a:latin typeface="Poppins"/>
                <a:ea typeface="Poppins"/>
                <a:cs typeface="Poppins"/>
                <a:sym typeface="Poppins"/>
              </a:rPr>
              <a:t>O projeto alinha-se ao ODS 9 - Indústria, Inovação e Infraestrutura, desenvolvendo uma solução tecnológica inovadora para (comparação de produtos/preços/dados), utilizando boas práticas de desenvolvimento de software e infraestrutura colaborativa via GitHub.</a:t>
            </a:r>
            <a:endParaRPr sz="1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1"/>
          <p:cNvSpPr/>
          <p:nvPr/>
        </p:nvSpPr>
        <p:spPr>
          <a:xfrm rot="2349953">
            <a:off x="9622885" y="-4313140"/>
            <a:ext cx="12609494" cy="10683680"/>
          </a:xfrm>
          <a:custGeom>
            <a:rect b="b" l="l" r="r" t="t"/>
            <a:pathLst>
              <a:path extrusionOk="0" h="10683680" w="12609494">
                <a:moveTo>
                  <a:pt x="0" y="0"/>
                </a:moveTo>
                <a:lnTo>
                  <a:pt x="12609494" y="0"/>
                </a:lnTo>
                <a:lnTo>
                  <a:pt x="12609494" y="10683680"/>
                </a:lnTo>
                <a:lnTo>
                  <a:pt x="0" y="106836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9" name="Google Shape;349;p21"/>
          <p:cNvSpPr/>
          <p:nvPr/>
        </p:nvSpPr>
        <p:spPr>
          <a:xfrm>
            <a:off x="6001623" y="335427"/>
            <a:ext cx="13810983" cy="14760862"/>
          </a:xfrm>
          <a:custGeom>
            <a:rect b="b" l="l" r="r" t="t"/>
            <a:pathLst>
              <a:path extrusionOk="0" h="7203440" w="6739890">
                <a:moveTo>
                  <a:pt x="3602990" y="1123950"/>
                </a:moveTo>
                <a:cubicBezTo>
                  <a:pt x="3155950" y="1784350"/>
                  <a:pt x="3209290" y="2346960"/>
                  <a:pt x="2705100" y="2646680"/>
                </a:cubicBezTo>
                <a:cubicBezTo>
                  <a:pt x="1689100" y="3252470"/>
                  <a:pt x="647700" y="2674620"/>
                  <a:pt x="327660" y="3713480"/>
                </a:cubicBezTo>
                <a:cubicBezTo>
                  <a:pt x="0" y="4777740"/>
                  <a:pt x="839470" y="5806440"/>
                  <a:pt x="2597150" y="6450330"/>
                </a:cubicBezTo>
                <a:cubicBezTo>
                  <a:pt x="4646930" y="7203440"/>
                  <a:pt x="6739890" y="5153660"/>
                  <a:pt x="6248400" y="3628390"/>
                </a:cubicBezTo>
                <a:cubicBezTo>
                  <a:pt x="5842000" y="2364740"/>
                  <a:pt x="6545580" y="1811020"/>
                  <a:pt x="6122670" y="1123950"/>
                </a:cubicBezTo>
                <a:cubicBezTo>
                  <a:pt x="5429250" y="0"/>
                  <a:pt x="4081780" y="415290"/>
                  <a:pt x="3602990" y="112395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29187" r="-23876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21"/>
          <p:cNvSpPr/>
          <p:nvPr/>
        </p:nvSpPr>
        <p:spPr>
          <a:xfrm flipH="1" rot="-5400000">
            <a:off x="-3721713" y="8159274"/>
            <a:ext cx="5641167" cy="4779607"/>
          </a:xfrm>
          <a:custGeom>
            <a:rect b="b" l="l" r="r" t="t"/>
            <a:pathLst>
              <a:path extrusionOk="0" h="4779607" w="5641167">
                <a:moveTo>
                  <a:pt x="5641167" y="0"/>
                </a:moveTo>
                <a:lnTo>
                  <a:pt x="0" y="0"/>
                </a:lnTo>
                <a:lnTo>
                  <a:pt x="0" y="4779607"/>
                </a:lnTo>
                <a:lnTo>
                  <a:pt x="5641167" y="4779607"/>
                </a:lnTo>
                <a:lnTo>
                  <a:pt x="5641167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1" name="Google Shape;351;p21"/>
          <p:cNvSpPr/>
          <p:nvPr/>
        </p:nvSpPr>
        <p:spPr>
          <a:xfrm>
            <a:off x="10791584" y="4723940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52" name="Google Shape;352;p21"/>
          <p:cNvGrpSpPr/>
          <p:nvPr/>
        </p:nvGrpSpPr>
        <p:grpSpPr>
          <a:xfrm>
            <a:off x="1837276" y="2026996"/>
            <a:ext cx="1039833" cy="1039833"/>
            <a:chOff x="0" y="0"/>
            <a:chExt cx="812800" cy="812800"/>
          </a:xfrm>
        </p:grpSpPr>
        <p:sp>
          <p:nvSpPr>
            <p:cNvPr id="353" name="Google Shape;353;p2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5" name="Google Shape;355;p21"/>
          <p:cNvSpPr txBox="1"/>
          <p:nvPr/>
        </p:nvSpPr>
        <p:spPr>
          <a:xfrm>
            <a:off x="2047256" y="2047866"/>
            <a:ext cx="9073300" cy="18823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3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473" u="none" cap="none" strike="noStrike">
                <a:solidFill>
                  <a:srgbClr val="201E1E"/>
                </a:solidFill>
                <a:latin typeface="Poppins"/>
                <a:ea typeface="Poppins"/>
                <a:cs typeface="Poppins"/>
                <a:sym typeface="Poppins"/>
              </a:rPr>
              <a:t>Obrigado!</a:t>
            </a:r>
            <a:endParaRPr/>
          </a:p>
        </p:txBody>
      </p:sp>
      <p:sp>
        <p:nvSpPr>
          <p:cNvPr id="356" name="Google Shape;356;p21"/>
          <p:cNvSpPr/>
          <p:nvPr/>
        </p:nvSpPr>
        <p:spPr>
          <a:xfrm>
            <a:off x="11364004" y="1219660"/>
            <a:ext cx="1073914" cy="1073914"/>
          </a:xfrm>
          <a:custGeom>
            <a:rect b="b" l="l" r="r" t="t"/>
            <a:pathLst>
              <a:path extrusionOk="0" h="1073914" w="1073914">
                <a:moveTo>
                  <a:pt x="0" y="0"/>
                </a:moveTo>
                <a:lnTo>
                  <a:pt x="1073914" y="0"/>
                </a:lnTo>
                <a:lnTo>
                  <a:pt x="1073914" y="1073914"/>
                </a:lnTo>
                <a:lnTo>
                  <a:pt x="0" y="107391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7" name="Google Shape;357;p21"/>
          <p:cNvSpPr/>
          <p:nvPr/>
        </p:nvSpPr>
        <p:spPr>
          <a:xfrm>
            <a:off x="16445542" y="1028700"/>
            <a:ext cx="572420" cy="572420"/>
          </a:xfrm>
          <a:custGeom>
            <a:rect b="b" l="l" r="r" t="t"/>
            <a:pathLst>
              <a:path extrusionOk="0" h="572420" w="572420">
                <a:moveTo>
                  <a:pt x="0" y="0"/>
                </a:moveTo>
                <a:lnTo>
                  <a:pt x="572420" y="0"/>
                </a:lnTo>
                <a:lnTo>
                  <a:pt x="572420" y="572420"/>
                </a:lnTo>
                <a:lnTo>
                  <a:pt x="0" y="5724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58" name="Google Shape;358;p21"/>
          <p:cNvGrpSpPr/>
          <p:nvPr/>
        </p:nvGrpSpPr>
        <p:grpSpPr>
          <a:xfrm>
            <a:off x="8289052" y="3482733"/>
            <a:ext cx="2334090" cy="2334090"/>
            <a:chOff x="0" y="0"/>
            <a:chExt cx="812800" cy="812800"/>
          </a:xfrm>
        </p:grpSpPr>
        <p:sp>
          <p:nvSpPr>
            <p:cNvPr id="359" name="Google Shape;359;p2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21"/>
          <p:cNvSpPr txBox="1"/>
          <p:nvPr/>
        </p:nvSpPr>
        <p:spPr>
          <a:xfrm>
            <a:off x="843959" y="5285093"/>
            <a:ext cx="5683081" cy="8439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99" u="none" cap="none" strike="noStrike">
                <a:solidFill>
                  <a:srgbClr val="003728"/>
                </a:solidFill>
                <a:latin typeface="Poppins"/>
                <a:ea typeface="Poppins"/>
                <a:cs typeface="Poppins"/>
                <a:sym typeface="Poppins"/>
              </a:rPr>
              <a:t>Poupa</a:t>
            </a:r>
            <a:r>
              <a:rPr b="1" i="0" lang="en-US" sz="2399" u="none" cap="none" strike="noStrike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Aí</a:t>
            </a:r>
            <a:r>
              <a:rPr b="1" i="0" lang="en-US" sz="2399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- </a:t>
            </a:r>
            <a:r>
              <a:rPr b="0" i="0" lang="en-US" sz="2399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Sua jornada de compras mais inteligente começa aqui. </a:t>
            </a:r>
            <a:endParaRPr/>
          </a:p>
        </p:txBody>
      </p:sp>
      <p:sp>
        <p:nvSpPr>
          <p:cNvPr id="362" name="Google Shape;362;p21"/>
          <p:cNvSpPr txBox="1"/>
          <p:nvPr/>
        </p:nvSpPr>
        <p:spPr>
          <a:xfrm>
            <a:off x="830937" y="4552314"/>
            <a:ext cx="5709493" cy="4578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599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Compre inteligente, viva melhor! </a:t>
            </a:r>
            <a:endParaRPr/>
          </a:p>
        </p:txBody>
      </p:sp>
      <p:sp>
        <p:nvSpPr>
          <p:cNvPr id="363" name="Google Shape;363;p21"/>
          <p:cNvSpPr txBox="1"/>
          <p:nvPr/>
        </p:nvSpPr>
        <p:spPr>
          <a:xfrm>
            <a:off x="575324" y="9587702"/>
            <a:ext cx="734178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endParaRPr/>
          </a:p>
        </p:txBody>
      </p:sp>
      <p:pic>
        <p:nvPicPr>
          <p:cNvPr id="364" name="Google Shape;364;p21" title="LogoPoupaAI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5325" y="335425"/>
            <a:ext cx="1641742" cy="407975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21"/>
          <p:cNvSpPr txBox="1"/>
          <p:nvPr/>
        </p:nvSpPr>
        <p:spPr>
          <a:xfrm>
            <a:off x="1309500" y="8030150"/>
            <a:ext cx="4164300" cy="21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99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Bernardo Duarte Medeiros de Paula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99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Bruna Pedrosa Nunes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99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Lucas Gonçalves Sivolella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99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Plínio Ângelo Ferreira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99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Sofia Ferreira Costa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99">
                <a:solidFill>
                  <a:srgbClr val="BBD106"/>
                </a:solidFill>
                <a:latin typeface="Poppins"/>
                <a:ea typeface="Poppins"/>
                <a:cs typeface="Poppins"/>
                <a:sym typeface="Poppins"/>
              </a:rPr>
              <a:t>Vinicius Ramos Sales</a:t>
            </a:r>
            <a:endParaRPr/>
          </a:p>
        </p:txBody>
      </p:sp>
      <p:grpSp>
        <p:nvGrpSpPr>
          <p:cNvPr id="366" name="Google Shape;366;p21"/>
          <p:cNvGrpSpPr/>
          <p:nvPr/>
        </p:nvGrpSpPr>
        <p:grpSpPr>
          <a:xfrm>
            <a:off x="1309489" y="6962701"/>
            <a:ext cx="3342076" cy="980603"/>
            <a:chOff x="0" y="0"/>
            <a:chExt cx="1385087" cy="406400"/>
          </a:xfrm>
        </p:grpSpPr>
        <p:sp>
          <p:nvSpPr>
            <p:cNvPr id="367" name="Google Shape;367;p21"/>
            <p:cNvSpPr/>
            <p:nvPr/>
          </p:nvSpPr>
          <p:spPr>
            <a:xfrm>
              <a:off x="0" y="0"/>
              <a:ext cx="1385087" cy="406400"/>
            </a:xfrm>
            <a:custGeom>
              <a:rect b="b" l="l" r="r" t="t"/>
              <a:pathLst>
                <a:path extrusionOk="0" h="406400" w="1385087">
                  <a:moveTo>
                    <a:pt x="1181887" y="0"/>
                  </a:moveTo>
                  <a:cubicBezTo>
                    <a:pt x="1294111" y="0"/>
                    <a:pt x="1385087" y="90976"/>
                    <a:pt x="1385087" y="203200"/>
                  </a:cubicBezTo>
                  <a:cubicBezTo>
                    <a:pt x="1385087" y="315424"/>
                    <a:pt x="1294111" y="406400"/>
                    <a:pt x="1181887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BD10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1"/>
            <p:cNvSpPr txBox="1"/>
            <p:nvPr/>
          </p:nvSpPr>
          <p:spPr>
            <a:xfrm>
              <a:off x="176395" y="58752"/>
              <a:ext cx="1032300" cy="28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rtl="0" algn="l">
                <a:lnSpc>
                  <a:spcPct val="14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312">
                  <a:solidFill>
                    <a:srgbClr val="003728"/>
                  </a:solidFill>
                  <a:latin typeface="Poppins"/>
                  <a:ea typeface="Poppins"/>
                  <a:cs typeface="Poppins"/>
                  <a:sym typeface="Poppins"/>
                </a:rPr>
                <a:t>Integrantes</a:t>
              </a:r>
              <a:endParaRPr/>
            </a:p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