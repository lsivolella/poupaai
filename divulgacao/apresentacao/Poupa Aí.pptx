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Poppins" panose="020B0604020202020204" charset="0"/>
      <p:regular r:id="rId10"/>
    </p:embeddedFont>
    <p:embeddedFont>
      <p:font typeface="Poppins Italics" panose="020B0604020202020204" charset="0"/>
      <p:regular r:id="rId11"/>
    </p:embeddedFont>
    <p:embeddedFont>
      <p:font typeface="Poppins Bold Italics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oppins Ultra-Bold" panose="020B0604020202020204" charset="0"/>
      <p:regular r:id="rId17"/>
    </p:embeddedFont>
    <p:embeddedFont>
      <p:font typeface="Poppi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8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4.png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20.svg"/><Relationship Id="rId12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7.sv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22.png"/><Relationship Id="rId7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3.png"/><Relationship Id="rId4" Type="http://schemas.openxmlformats.org/officeDocument/2006/relationships/image" Target="../media/image30.sv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4.jpeg"/><Relationship Id="rId7" Type="http://schemas.openxmlformats.org/officeDocument/2006/relationships/image" Target="../media/image20.sv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6.jpeg"/><Relationship Id="rId10" Type="http://schemas.openxmlformats.org/officeDocument/2006/relationships/image" Target="../media/image7.png"/><Relationship Id="rId4" Type="http://schemas.openxmlformats.org/officeDocument/2006/relationships/image" Target="../media/image25.jpe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6.svg"/><Relationship Id="rId7" Type="http://schemas.openxmlformats.org/officeDocument/2006/relationships/image" Target="../media/image17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0.png"/><Relationship Id="rId5" Type="http://schemas.openxmlformats.org/officeDocument/2006/relationships/image" Target="../media/image20.svg"/><Relationship Id="rId10" Type="http://schemas.openxmlformats.org/officeDocument/2006/relationships/image" Target="../media/image29.png"/><Relationship Id="rId4" Type="http://schemas.openxmlformats.org/officeDocument/2006/relationships/image" Target="../media/image1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6.svg"/><Relationship Id="rId7" Type="http://schemas.openxmlformats.org/officeDocument/2006/relationships/image" Target="../media/image1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3.png"/><Relationship Id="rId4" Type="http://schemas.openxmlformats.org/officeDocument/2006/relationships/image" Target="../media/image31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07158">
            <a:off x="2737357" y="7575983"/>
            <a:ext cx="9101962" cy="7711844"/>
          </a:xfrm>
          <a:custGeom>
            <a:avLst/>
            <a:gdLst/>
            <a:ahLst/>
            <a:cxnLst/>
            <a:rect l="l" t="t" r="r" b="b"/>
            <a:pathLst>
              <a:path w="9101962" h="7711844">
                <a:moveTo>
                  <a:pt x="0" y="0"/>
                </a:moveTo>
                <a:lnTo>
                  <a:pt x="9101962" y="0"/>
                </a:lnTo>
                <a:lnTo>
                  <a:pt x="9101962" y="7711844"/>
                </a:lnTo>
                <a:lnTo>
                  <a:pt x="0" y="7711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59346">
            <a:off x="9666891" y="1945896"/>
            <a:ext cx="12609494" cy="10683680"/>
          </a:xfrm>
          <a:custGeom>
            <a:avLst/>
            <a:gdLst/>
            <a:ahLst/>
            <a:cxnLst/>
            <a:rect l="l" t="t" r="r" b="b"/>
            <a:pathLst>
              <a:path w="12609494" h="10683680">
                <a:moveTo>
                  <a:pt x="0" y="0"/>
                </a:moveTo>
                <a:lnTo>
                  <a:pt x="12609494" y="0"/>
                </a:lnTo>
                <a:lnTo>
                  <a:pt x="12609494" y="10683681"/>
                </a:lnTo>
                <a:lnTo>
                  <a:pt x="0" y="106836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006330" y="7709159"/>
            <a:ext cx="1668856" cy="1668856"/>
          </a:xfrm>
          <a:custGeom>
            <a:avLst/>
            <a:gdLst/>
            <a:ahLst/>
            <a:cxnLst/>
            <a:rect l="l" t="t" r="r" b="b"/>
            <a:pathLst>
              <a:path w="1668856" h="1668856">
                <a:moveTo>
                  <a:pt x="0" y="0"/>
                </a:moveTo>
                <a:lnTo>
                  <a:pt x="1668857" y="0"/>
                </a:lnTo>
                <a:lnTo>
                  <a:pt x="1668857" y="1668857"/>
                </a:lnTo>
                <a:lnTo>
                  <a:pt x="0" y="16688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08072" y="4902425"/>
            <a:ext cx="2640215" cy="2640215"/>
          </a:xfrm>
          <a:custGeom>
            <a:avLst/>
            <a:gdLst/>
            <a:ahLst/>
            <a:cxnLst/>
            <a:rect l="l" t="t" r="r" b="b"/>
            <a:pathLst>
              <a:path w="2640215" h="2640215">
                <a:moveTo>
                  <a:pt x="0" y="0"/>
                </a:moveTo>
                <a:lnTo>
                  <a:pt x="2640216" y="0"/>
                </a:lnTo>
                <a:lnTo>
                  <a:pt x="2640216" y="2640215"/>
                </a:lnTo>
                <a:lnTo>
                  <a:pt x="0" y="26402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446004" y="7542640"/>
            <a:ext cx="2395802" cy="2395802"/>
          </a:xfrm>
          <a:custGeom>
            <a:avLst/>
            <a:gdLst/>
            <a:ahLst/>
            <a:cxnLst/>
            <a:rect l="l" t="t" r="r" b="b"/>
            <a:pathLst>
              <a:path w="2395802" h="2395802">
                <a:moveTo>
                  <a:pt x="0" y="0"/>
                </a:moveTo>
                <a:lnTo>
                  <a:pt x="2395802" y="0"/>
                </a:lnTo>
                <a:lnTo>
                  <a:pt x="2395802" y="2395802"/>
                </a:lnTo>
                <a:lnTo>
                  <a:pt x="0" y="23958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85135">
            <a:off x="-3007742" y="-4780383"/>
            <a:ext cx="9560765" cy="9560765"/>
          </a:xfrm>
          <a:custGeom>
            <a:avLst/>
            <a:gdLst/>
            <a:ahLst/>
            <a:cxnLst/>
            <a:rect l="l" t="t" r="r" b="b"/>
            <a:pathLst>
              <a:path w="9560765" h="9560765">
                <a:moveTo>
                  <a:pt x="0" y="0"/>
                </a:moveTo>
                <a:lnTo>
                  <a:pt x="9560765" y="0"/>
                </a:lnTo>
                <a:lnTo>
                  <a:pt x="9560765" y="9560766"/>
                </a:lnTo>
                <a:lnTo>
                  <a:pt x="0" y="95607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305839" y="2960334"/>
            <a:ext cx="3461359" cy="807736"/>
            <a:chOff x="0" y="0"/>
            <a:chExt cx="2384981" cy="5565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4981" cy="556554"/>
            </a:xfrm>
            <a:custGeom>
              <a:avLst/>
              <a:gdLst/>
              <a:ahLst/>
              <a:cxnLst/>
              <a:rect l="l" t="t" r="r" b="b"/>
              <a:pathLst>
                <a:path w="2384981" h="556554">
                  <a:moveTo>
                    <a:pt x="2181781" y="0"/>
                  </a:moveTo>
                  <a:cubicBezTo>
                    <a:pt x="2294005" y="0"/>
                    <a:pt x="2384981" y="124589"/>
                    <a:pt x="2384981" y="278277"/>
                  </a:cubicBezTo>
                  <a:cubicBezTo>
                    <a:pt x="2384981" y="431965"/>
                    <a:pt x="2294005" y="556554"/>
                    <a:pt x="2181781" y="556554"/>
                  </a:cubicBezTo>
                  <a:lnTo>
                    <a:pt x="203200" y="556554"/>
                  </a:lnTo>
                  <a:cubicBezTo>
                    <a:pt x="90976" y="556554"/>
                    <a:pt x="0" y="431965"/>
                    <a:pt x="0" y="278277"/>
                  </a:cubicBezTo>
                  <a:cubicBezTo>
                    <a:pt x="0" y="12458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BD10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84981" cy="594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5839" y="6346063"/>
            <a:ext cx="3342076" cy="980602"/>
            <a:chOff x="0" y="0"/>
            <a:chExt cx="1385087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5087" cy="406400"/>
            </a:xfrm>
            <a:custGeom>
              <a:avLst/>
              <a:gdLst/>
              <a:ahLst/>
              <a:cxnLst/>
              <a:rect l="l" t="t" r="r" b="b"/>
              <a:pathLst>
                <a:path w="1385087" h="406400">
                  <a:moveTo>
                    <a:pt x="1181887" y="0"/>
                  </a:moveTo>
                  <a:cubicBezTo>
                    <a:pt x="1294111" y="0"/>
                    <a:pt x="1385087" y="90976"/>
                    <a:pt x="1385087" y="203200"/>
                  </a:cubicBezTo>
                  <a:cubicBezTo>
                    <a:pt x="1385087" y="315424"/>
                    <a:pt x="1294111" y="406400"/>
                    <a:pt x="118188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BD10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508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73445" y="6499994"/>
            <a:ext cx="672741" cy="67274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72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673472" y="6700021"/>
            <a:ext cx="272687" cy="272687"/>
          </a:xfrm>
          <a:custGeom>
            <a:avLst/>
            <a:gdLst/>
            <a:ahLst/>
            <a:cxnLst/>
            <a:rect l="l" t="t" r="r" b="b"/>
            <a:pathLst>
              <a:path w="272687" h="272687">
                <a:moveTo>
                  <a:pt x="0" y="0"/>
                </a:moveTo>
                <a:lnTo>
                  <a:pt x="272687" y="0"/>
                </a:lnTo>
                <a:lnTo>
                  <a:pt x="272687" y="272687"/>
                </a:lnTo>
                <a:lnTo>
                  <a:pt x="0" y="2726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062408" y="1835889"/>
            <a:ext cx="6196892" cy="7279755"/>
          </a:xfrm>
          <a:custGeom>
            <a:avLst/>
            <a:gdLst/>
            <a:ahLst/>
            <a:cxnLst/>
            <a:rect l="l" t="t" r="r" b="b"/>
            <a:pathLst>
              <a:path w="6196892" h="7279755">
                <a:moveTo>
                  <a:pt x="0" y="0"/>
                </a:moveTo>
                <a:lnTo>
                  <a:pt x="6196892" y="0"/>
                </a:lnTo>
                <a:lnTo>
                  <a:pt x="6196892" y="7279755"/>
                </a:lnTo>
                <a:lnTo>
                  <a:pt x="0" y="727975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03623" y="309330"/>
            <a:ext cx="648877" cy="648877"/>
          </a:xfrm>
          <a:custGeom>
            <a:avLst/>
            <a:gdLst/>
            <a:ahLst/>
            <a:cxnLst/>
            <a:rect l="l" t="t" r="r" b="b"/>
            <a:pathLst>
              <a:path w="648877" h="648877">
                <a:moveTo>
                  <a:pt x="0" y="0"/>
                </a:moveTo>
                <a:lnTo>
                  <a:pt x="648877" y="0"/>
                </a:lnTo>
                <a:lnTo>
                  <a:pt x="648877" y="648877"/>
                </a:lnTo>
                <a:lnTo>
                  <a:pt x="0" y="6488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8289052" y="3482733"/>
            <a:ext cx="2334090" cy="233409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468493" y="3662173"/>
            <a:ext cx="1975209" cy="1975209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6727875" y="8680588"/>
            <a:ext cx="1394855" cy="1394855"/>
          </a:xfrm>
          <a:custGeom>
            <a:avLst/>
            <a:gdLst/>
            <a:ahLst/>
            <a:cxnLst/>
            <a:rect l="l" t="t" r="r" b="b"/>
            <a:pathLst>
              <a:path w="1394855" h="1394855">
                <a:moveTo>
                  <a:pt x="0" y="0"/>
                </a:moveTo>
                <a:lnTo>
                  <a:pt x="1394855" y="0"/>
                </a:lnTo>
                <a:lnTo>
                  <a:pt x="1394855" y="1394855"/>
                </a:lnTo>
                <a:lnTo>
                  <a:pt x="0" y="139485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028700" y="515658"/>
            <a:ext cx="161715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PoupaAí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05839" y="3321549"/>
            <a:ext cx="8278791" cy="2154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13"/>
              </a:lnSpc>
              <a:spcBef>
                <a:spcPct val="0"/>
              </a:spcBef>
            </a:pPr>
            <a:r>
              <a:rPr lang="en-US" sz="11938" b="1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Poupa</a:t>
            </a:r>
            <a:r>
              <a:rPr lang="en-US" sz="11938" b="1">
                <a:solidFill>
                  <a:srgbClr val="BBD106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47618" y="5468208"/>
            <a:ext cx="7334432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639">
                <a:solidFill>
                  <a:srgbClr val="BBD106"/>
                </a:solidFill>
                <a:latin typeface="Poppins"/>
                <a:ea typeface="Poppins"/>
                <a:cs typeface="Poppins"/>
                <a:sym typeface="Poppins"/>
              </a:rPr>
              <a:t>TRANSFORMANDO A SUA EXPERIÊNCIA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639">
                <a:solidFill>
                  <a:srgbClr val="BBD106"/>
                </a:solidFill>
                <a:latin typeface="Poppins"/>
                <a:ea typeface="Poppins"/>
                <a:cs typeface="Poppins"/>
                <a:sym typeface="Poppins"/>
              </a:rPr>
              <a:t>EM SUPERMERCADOS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50182" y="3089861"/>
            <a:ext cx="3297732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003728"/>
                </a:solidFill>
                <a:latin typeface="Poppins Bold"/>
                <a:ea typeface="Poppins Bold"/>
                <a:cs typeface="Poppins Bold"/>
                <a:sym typeface="Poppins Bold"/>
              </a:rPr>
              <a:t>TRABALHO INTERDISCIPLINAR: APLICAÇÕES WEB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76958" y="6609018"/>
            <a:ext cx="1968394" cy="40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7"/>
              </a:lnSpc>
              <a:spcBef>
                <a:spcPct val="0"/>
              </a:spcBef>
            </a:pPr>
            <a:r>
              <a:rPr lang="en-US" sz="2312" b="1">
                <a:solidFill>
                  <a:srgbClr val="003728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Integrantes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05839" y="7593965"/>
            <a:ext cx="4503416" cy="166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Bernardo Duarte Medeiros de Paula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Bruna Pedrosa Nunes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Lucas Gonçalves Sivolella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Plínio Ângelo Ferreira</a:t>
            </a:r>
          </a:p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Sofia Ferreira Costa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Vinicius Ramos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03714" y="9587702"/>
            <a:ext cx="247080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545319" y="-1781026"/>
            <a:ext cx="16460133" cy="7114754"/>
            <a:chOff x="0" y="0"/>
            <a:chExt cx="12407900" cy="5363210"/>
          </a:xfrm>
        </p:grpSpPr>
        <p:sp>
          <p:nvSpPr>
            <p:cNvPr id="4" name="Freeform 4"/>
            <p:cNvSpPr/>
            <p:nvPr/>
          </p:nvSpPr>
          <p:spPr>
            <a:xfrm>
              <a:off x="-1188720" y="-1299210"/>
              <a:ext cx="14579600" cy="7821930"/>
            </a:xfrm>
            <a:custGeom>
              <a:avLst/>
              <a:gdLst/>
              <a:ahLst/>
              <a:cxnLst/>
              <a:rect l="l" t="t" r="r" b="b"/>
              <a:pathLst>
                <a:path w="14579600" h="7821930">
                  <a:moveTo>
                    <a:pt x="1446530" y="2216150"/>
                  </a:moveTo>
                  <a:cubicBezTo>
                    <a:pt x="2578100" y="0"/>
                    <a:pt x="6996430" y="2960370"/>
                    <a:pt x="8751570" y="1879600"/>
                  </a:cubicBezTo>
                  <a:cubicBezTo>
                    <a:pt x="11271250" y="328930"/>
                    <a:pt x="14579600" y="2044700"/>
                    <a:pt x="13321030" y="5191760"/>
                  </a:cubicBezTo>
                  <a:cubicBezTo>
                    <a:pt x="12679680" y="6795770"/>
                    <a:pt x="9763759" y="5523230"/>
                    <a:pt x="8426450" y="6164580"/>
                  </a:cubicBezTo>
                  <a:cubicBezTo>
                    <a:pt x="4964430" y="7821930"/>
                    <a:pt x="0" y="5048250"/>
                    <a:pt x="1446531" y="2216150"/>
                  </a:cubicBezTo>
                  <a:close/>
                </a:path>
              </a:pathLst>
            </a:custGeom>
            <a:blipFill>
              <a:blip r:embed="rId2"/>
              <a:stretch>
                <a:fillRect b="-54151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667412" y="2515608"/>
            <a:ext cx="572420" cy="572420"/>
          </a:xfrm>
          <a:custGeom>
            <a:avLst/>
            <a:gdLst/>
            <a:ahLst/>
            <a:cxnLst/>
            <a:rect l="l" t="t" r="r" b="b"/>
            <a:pathLst>
              <a:path w="572420" h="572420">
                <a:moveTo>
                  <a:pt x="0" y="0"/>
                </a:moveTo>
                <a:lnTo>
                  <a:pt x="572420" y="0"/>
                </a:lnTo>
                <a:lnTo>
                  <a:pt x="572420" y="572420"/>
                </a:lnTo>
                <a:lnTo>
                  <a:pt x="0" y="572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49793" y="6447211"/>
            <a:ext cx="1800036" cy="1800036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3728"/>
            </a:solidFill>
          </p:spPr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0901" y="6628319"/>
            <a:ext cx="1437821" cy="1437821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239832" y="3283670"/>
            <a:ext cx="1039833" cy="103983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D10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449811" y="3380740"/>
            <a:ext cx="4576876" cy="176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0"/>
              </a:lnSpc>
            </a:pPr>
            <a:r>
              <a:rPr lang="en-US" sz="5500" b="1">
                <a:solidFill>
                  <a:srgbClr val="201E1E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 Geral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8972" y="8366272"/>
            <a:ext cx="2581679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Brasileiros procuram opções mais baratas ao fazer compras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4129800" y="3916453"/>
            <a:ext cx="1073914" cy="1073914"/>
          </a:xfrm>
          <a:custGeom>
            <a:avLst/>
            <a:gdLst/>
            <a:ahLst/>
            <a:cxnLst/>
            <a:rect l="l" t="t" r="r" b="b"/>
            <a:pathLst>
              <a:path w="1073914" h="1073914">
                <a:moveTo>
                  <a:pt x="0" y="0"/>
                </a:moveTo>
                <a:lnTo>
                  <a:pt x="1073914" y="0"/>
                </a:lnTo>
                <a:lnTo>
                  <a:pt x="1073914" y="1073914"/>
                </a:lnTo>
                <a:lnTo>
                  <a:pt x="0" y="1073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5400000" flipH="1">
            <a:off x="-3721713" y="8159274"/>
            <a:ext cx="5641167" cy="4779607"/>
          </a:xfrm>
          <a:custGeom>
            <a:avLst/>
            <a:gdLst/>
            <a:ahLst/>
            <a:cxnLst/>
            <a:rect l="l" t="t" r="r" b="b"/>
            <a:pathLst>
              <a:path w="5641167" h="4779607">
                <a:moveTo>
                  <a:pt x="5641167" y="0"/>
                </a:moveTo>
                <a:lnTo>
                  <a:pt x="0" y="0"/>
                </a:lnTo>
                <a:lnTo>
                  <a:pt x="0" y="4779607"/>
                </a:lnTo>
                <a:lnTo>
                  <a:pt x="5641167" y="4779607"/>
                </a:lnTo>
                <a:lnTo>
                  <a:pt x="564116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4835830" y="6447211"/>
            <a:ext cx="1800036" cy="1800036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3728"/>
            </a:solidFill>
          </p:spPr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6938" y="6628319"/>
            <a:ext cx="1437821" cy="1437821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445009" y="8366272"/>
            <a:ext cx="2581679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Procuram mercados que estão em promoção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122359" y="6447211"/>
            <a:ext cx="1800036" cy="1800036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3728"/>
            </a:solidFill>
          </p:spPr>
        </p:sp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3467" y="6628319"/>
            <a:ext cx="1437821" cy="1437821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7731538" y="8366272"/>
            <a:ext cx="2581679" cy="158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Levam mais itens no supermercado quando observam que o preço está mais baixo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408888" y="6447211"/>
            <a:ext cx="1800036" cy="1800036"/>
            <a:chOff x="0" y="0"/>
            <a:chExt cx="6350000" cy="635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3728"/>
            </a:solidFill>
          </p:spPr>
        </p:sp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89997" y="6628319"/>
            <a:ext cx="1437821" cy="1437821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1018067" y="8366272"/>
            <a:ext cx="2581679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Costuma pesquisar produtos mais em conta antes de ir ao supermercado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4695418" y="6447211"/>
            <a:ext cx="1800036" cy="1800036"/>
            <a:chOff x="0" y="0"/>
            <a:chExt cx="6350000" cy="6350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3728"/>
            </a:solidFill>
          </p:spPr>
        </p: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76526" y="6628319"/>
            <a:ext cx="1437821" cy="1437821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4304596" y="8366272"/>
            <a:ext cx="2581679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 err="1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Estão</a:t>
            </a:r>
            <a:r>
              <a:rPr lang="en-US" sz="1799" dirty="0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99" dirty="0" err="1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sempre</a:t>
            </a:r>
            <a:r>
              <a:rPr lang="en-US" sz="1799" dirty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99" dirty="0" err="1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atentos</a:t>
            </a:r>
            <a:r>
              <a:rPr lang="en-US" sz="1799" dirty="0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99" dirty="0" err="1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às</a:t>
            </a:r>
            <a:r>
              <a:rPr lang="en-US" sz="1799" dirty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99" dirty="0" err="1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promoções</a:t>
            </a:r>
            <a:endParaRPr lang="en-US" sz="1799" dirty="0">
              <a:solidFill>
                <a:srgbClr val="201E1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303623" y="309330"/>
            <a:ext cx="648877" cy="648877"/>
          </a:xfrm>
          <a:custGeom>
            <a:avLst/>
            <a:gdLst/>
            <a:ahLst/>
            <a:cxnLst/>
            <a:rect l="l" t="t" r="r" b="b"/>
            <a:pathLst>
              <a:path w="648877" h="648877">
                <a:moveTo>
                  <a:pt x="0" y="0"/>
                </a:moveTo>
                <a:lnTo>
                  <a:pt x="648877" y="0"/>
                </a:lnTo>
                <a:lnTo>
                  <a:pt x="648877" y="648877"/>
                </a:lnTo>
                <a:lnTo>
                  <a:pt x="0" y="64887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028700" y="515658"/>
            <a:ext cx="161715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PoupaAí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9631" y="4605631"/>
            <a:ext cx="19787262" cy="8303246"/>
            <a:chOff x="0" y="0"/>
            <a:chExt cx="2713559" cy="1138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13559" cy="1138679"/>
            </a:xfrm>
            <a:custGeom>
              <a:avLst/>
              <a:gdLst/>
              <a:ahLst/>
              <a:cxnLst/>
              <a:rect l="l" t="t" r="r" b="b"/>
              <a:pathLst>
                <a:path w="2713559" h="1138679">
                  <a:moveTo>
                    <a:pt x="1356779" y="0"/>
                  </a:moveTo>
                  <a:cubicBezTo>
                    <a:pt x="607451" y="0"/>
                    <a:pt x="0" y="254902"/>
                    <a:pt x="0" y="569340"/>
                  </a:cubicBezTo>
                  <a:cubicBezTo>
                    <a:pt x="0" y="883777"/>
                    <a:pt x="607451" y="1138679"/>
                    <a:pt x="1356779" y="1138679"/>
                  </a:cubicBezTo>
                  <a:cubicBezTo>
                    <a:pt x="2106108" y="1138679"/>
                    <a:pt x="2713559" y="883777"/>
                    <a:pt x="2713559" y="569340"/>
                  </a:cubicBezTo>
                  <a:cubicBezTo>
                    <a:pt x="2713559" y="254902"/>
                    <a:pt x="2106108" y="0"/>
                    <a:pt x="1356779" y="0"/>
                  </a:cubicBezTo>
                  <a:close/>
                </a:path>
              </a:pathLst>
            </a:custGeom>
            <a:solidFill>
              <a:srgbClr val="00372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254396" y="68651"/>
              <a:ext cx="2204766" cy="963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3905482" y="3481764"/>
            <a:ext cx="3029234" cy="2915664"/>
            <a:chOff x="30480" y="591820"/>
            <a:chExt cx="12736830" cy="12259310"/>
          </a:xfrm>
        </p:grpSpPr>
        <p:sp>
          <p:nvSpPr>
            <p:cNvPr id="6" name="Freeform 6"/>
            <p:cNvSpPr/>
            <p:nvPr/>
          </p:nvSpPr>
          <p:spPr>
            <a:xfrm>
              <a:off x="30480" y="591820"/>
              <a:ext cx="12736830" cy="12259310"/>
            </a:xfrm>
            <a:custGeom>
              <a:avLst/>
              <a:gdLst/>
              <a:ahLst/>
              <a:cxnLst/>
              <a:rect l="l" t="t" r="r" b="b"/>
              <a:pathLst>
                <a:path w="12736830" h="12259310">
                  <a:moveTo>
                    <a:pt x="11925300" y="4271010"/>
                  </a:moveTo>
                  <a:cubicBezTo>
                    <a:pt x="10819131" y="2120900"/>
                    <a:pt x="8590281" y="544830"/>
                    <a:pt x="6215380" y="297180"/>
                  </a:cubicBezTo>
                  <a:cubicBezTo>
                    <a:pt x="4277360" y="0"/>
                    <a:pt x="3002280" y="913130"/>
                    <a:pt x="1960880" y="2170430"/>
                  </a:cubicBezTo>
                  <a:cubicBezTo>
                    <a:pt x="919480" y="3427730"/>
                    <a:pt x="365760" y="5030470"/>
                    <a:pt x="142240" y="6647180"/>
                  </a:cubicBezTo>
                  <a:cubicBezTo>
                    <a:pt x="24130" y="7500620"/>
                    <a:pt x="0" y="8406130"/>
                    <a:pt x="361950" y="9188450"/>
                  </a:cubicBezTo>
                  <a:cubicBezTo>
                    <a:pt x="820420" y="10180319"/>
                    <a:pt x="1822450" y="10811510"/>
                    <a:pt x="2842260" y="11203940"/>
                  </a:cubicBezTo>
                  <a:cubicBezTo>
                    <a:pt x="5585460" y="12259310"/>
                    <a:pt x="8953500" y="11850370"/>
                    <a:pt x="11088370" y="9828530"/>
                  </a:cubicBezTo>
                  <a:cubicBezTo>
                    <a:pt x="11756390" y="9196070"/>
                    <a:pt x="12303760" y="8403590"/>
                    <a:pt x="12499340" y="7504430"/>
                  </a:cubicBezTo>
                  <a:cubicBezTo>
                    <a:pt x="12736830" y="6413500"/>
                    <a:pt x="12435840" y="5264150"/>
                    <a:pt x="11925300" y="4271010"/>
                  </a:cubicBezTo>
                  <a:close/>
                </a:path>
              </a:pathLst>
            </a:custGeom>
            <a:blipFill>
              <a:blip r:embed="rId2"/>
              <a:stretch>
                <a:fillRect l="-243" t="-9431" r="243" b="837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7588043" y="3481764"/>
            <a:ext cx="3029234" cy="2915664"/>
            <a:chOff x="30480" y="591820"/>
            <a:chExt cx="12736830" cy="12259310"/>
          </a:xfrm>
        </p:grpSpPr>
        <p:sp>
          <p:nvSpPr>
            <p:cNvPr id="8" name="Freeform 8"/>
            <p:cNvSpPr/>
            <p:nvPr/>
          </p:nvSpPr>
          <p:spPr>
            <a:xfrm>
              <a:off x="30480" y="591820"/>
              <a:ext cx="12736830" cy="12259310"/>
            </a:xfrm>
            <a:custGeom>
              <a:avLst/>
              <a:gdLst/>
              <a:ahLst/>
              <a:cxnLst/>
              <a:rect l="l" t="t" r="r" b="b"/>
              <a:pathLst>
                <a:path w="12736830" h="12259310">
                  <a:moveTo>
                    <a:pt x="11925300" y="4271010"/>
                  </a:moveTo>
                  <a:cubicBezTo>
                    <a:pt x="10819131" y="2120900"/>
                    <a:pt x="8590281" y="544830"/>
                    <a:pt x="6215380" y="297180"/>
                  </a:cubicBezTo>
                  <a:cubicBezTo>
                    <a:pt x="4277360" y="0"/>
                    <a:pt x="3002280" y="913130"/>
                    <a:pt x="1960880" y="2170430"/>
                  </a:cubicBezTo>
                  <a:cubicBezTo>
                    <a:pt x="919480" y="3427730"/>
                    <a:pt x="365760" y="5030470"/>
                    <a:pt x="142240" y="6647180"/>
                  </a:cubicBezTo>
                  <a:cubicBezTo>
                    <a:pt x="24130" y="7500620"/>
                    <a:pt x="0" y="8406130"/>
                    <a:pt x="361950" y="9188450"/>
                  </a:cubicBezTo>
                  <a:cubicBezTo>
                    <a:pt x="820420" y="10180319"/>
                    <a:pt x="1822450" y="10811510"/>
                    <a:pt x="2842260" y="11203940"/>
                  </a:cubicBezTo>
                  <a:cubicBezTo>
                    <a:pt x="5585460" y="12259310"/>
                    <a:pt x="8953500" y="11850370"/>
                    <a:pt x="11088370" y="9828530"/>
                  </a:cubicBezTo>
                  <a:cubicBezTo>
                    <a:pt x="11756390" y="9196070"/>
                    <a:pt x="12303760" y="8403590"/>
                    <a:pt x="12499340" y="7504430"/>
                  </a:cubicBezTo>
                  <a:cubicBezTo>
                    <a:pt x="12736830" y="6413500"/>
                    <a:pt x="12435840" y="5264150"/>
                    <a:pt x="11925300" y="4271010"/>
                  </a:cubicBezTo>
                  <a:close/>
                </a:path>
              </a:pathLst>
            </a:custGeom>
            <a:blipFill>
              <a:blip r:embed="rId3"/>
              <a:stretch>
                <a:fillRect l="-243" t="-9669" r="243" b="598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270603" y="3481764"/>
            <a:ext cx="3029234" cy="2915664"/>
            <a:chOff x="30480" y="591820"/>
            <a:chExt cx="12736830" cy="12259310"/>
          </a:xfrm>
        </p:grpSpPr>
        <p:sp>
          <p:nvSpPr>
            <p:cNvPr id="10" name="Freeform 10"/>
            <p:cNvSpPr/>
            <p:nvPr/>
          </p:nvSpPr>
          <p:spPr>
            <a:xfrm>
              <a:off x="30480" y="591820"/>
              <a:ext cx="12736830" cy="12259310"/>
            </a:xfrm>
            <a:custGeom>
              <a:avLst/>
              <a:gdLst/>
              <a:ahLst/>
              <a:cxnLst/>
              <a:rect l="l" t="t" r="r" b="b"/>
              <a:pathLst>
                <a:path w="12736830" h="12259310">
                  <a:moveTo>
                    <a:pt x="11925300" y="4271010"/>
                  </a:moveTo>
                  <a:cubicBezTo>
                    <a:pt x="10819131" y="2120900"/>
                    <a:pt x="8590281" y="544830"/>
                    <a:pt x="6215380" y="297180"/>
                  </a:cubicBezTo>
                  <a:cubicBezTo>
                    <a:pt x="4277360" y="0"/>
                    <a:pt x="3002280" y="913130"/>
                    <a:pt x="1960880" y="2170430"/>
                  </a:cubicBezTo>
                  <a:cubicBezTo>
                    <a:pt x="919480" y="3427730"/>
                    <a:pt x="365760" y="5030470"/>
                    <a:pt x="142240" y="6647180"/>
                  </a:cubicBezTo>
                  <a:cubicBezTo>
                    <a:pt x="24130" y="7500620"/>
                    <a:pt x="0" y="8406130"/>
                    <a:pt x="361950" y="9188450"/>
                  </a:cubicBezTo>
                  <a:cubicBezTo>
                    <a:pt x="820420" y="10180319"/>
                    <a:pt x="1822450" y="10811510"/>
                    <a:pt x="2842260" y="11203940"/>
                  </a:cubicBezTo>
                  <a:cubicBezTo>
                    <a:pt x="5585460" y="12259310"/>
                    <a:pt x="8953500" y="11850370"/>
                    <a:pt x="11088370" y="9828530"/>
                  </a:cubicBezTo>
                  <a:cubicBezTo>
                    <a:pt x="11756390" y="9196070"/>
                    <a:pt x="12303760" y="8403590"/>
                    <a:pt x="12499340" y="7504430"/>
                  </a:cubicBezTo>
                  <a:cubicBezTo>
                    <a:pt x="12736830" y="6413500"/>
                    <a:pt x="12435840" y="5264150"/>
                    <a:pt x="11925300" y="4271010"/>
                  </a:cubicBezTo>
                  <a:close/>
                </a:path>
              </a:pathLst>
            </a:custGeom>
            <a:blipFill>
              <a:blip r:embed="rId4"/>
              <a:stretch>
                <a:fillRect l="-243" t="-9312" r="243" b="95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4002462" y="1660882"/>
            <a:ext cx="1039833" cy="103983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D10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1448240">
            <a:off x="16530095" y="-2022399"/>
            <a:ext cx="5641167" cy="4779607"/>
          </a:xfrm>
          <a:custGeom>
            <a:avLst/>
            <a:gdLst/>
            <a:ahLst/>
            <a:cxnLst/>
            <a:rect l="l" t="t" r="r" b="b"/>
            <a:pathLst>
              <a:path w="5641167" h="4779607">
                <a:moveTo>
                  <a:pt x="0" y="0"/>
                </a:moveTo>
                <a:lnTo>
                  <a:pt x="5641167" y="0"/>
                </a:lnTo>
                <a:lnTo>
                  <a:pt x="5641167" y="4779607"/>
                </a:lnTo>
                <a:lnTo>
                  <a:pt x="0" y="4779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106138" y="3701670"/>
            <a:ext cx="1073914" cy="1073914"/>
          </a:xfrm>
          <a:custGeom>
            <a:avLst/>
            <a:gdLst/>
            <a:ahLst/>
            <a:cxnLst/>
            <a:rect l="l" t="t" r="r" b="b"/>
            <a:pathLst>
              <a:path w="1073914" h="1073914">
                <a:moveTo>
                  <a:pt x="0" y="0"/>
                </a:moveTo>
                <a:lnTo>
                  <a:pt x="1073914" y="0"/>
                </a:lnTo>
                <a:lnTo>
                  <a:pt x="1073914" y="1073913"/>
                </a:lnTo>
                <a:lnTo>
                  <a:pt x="0" y="1073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788699" y="3701670"/>
            <a:ext cx="1073914" cy="1073914"/>
          </a:xfrm>
          <a:custGeom>
            <a:avLst/>
            <a:gdLst/>
            <a:ahLst/>
            <a:cxnLst/>
            <a:rect l="l" t="t" r="r" b="b"/>
            <a:pathLst>
              <a:path w="1073914" h="1073914">
                <a:moveTo>
                  <a:pt x="0" y="0"/>
                </a:moveTo>
                <a:lnTo>
                  <a:pt x="1073913" y="0"/>
                </a:lnTo>
                <a:lnTo>
                  <a:pt x="1073913" y="1073913"/>
                </a:lnTo>
                <a:lnTo>
                  <a:pt x="0" y="1073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471259" y="3701670"/>
            <a:ext cx="1073914" cy="1073914"/>
          </a:xfrm>
          <a:custGeom>
            <a:avLst/>
            <a:gdLst/>
            <a:ahLst/>
            <a:cxnLst/>
            <a:rect l="l" t="t" r="r" b="b"/>
            <a:pathLst>
              <a:path w="1073914" h="1073914">
                <a:moveTo>
                  <a:pt x="0" y="0"/>
                </a:moveTo>
                <a:lnTo>
                  <a:pt x="1073914" y="0"/>
                </a:lnTo>
                <a:lnTo>
                  <a:pt x="1073914" y="1073913"/>
                </a:lnTo>
                <a:lnTo>
                  <a:pt x="0" y="1073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03623" y="309330"/>
            <a:ext cx="648877" cy="648877"/>
          </a:xfrm>
          <a:custGeom>
            <a:avLst/>
            <a:gdLst/>
            <a:ahLst/>
            <a:cxnLst/>
            <a:rect l="l" t="t" r="r" b="b"/>
            <a:pathLst>
              <a:path w="648877" h="648877">
                <a:moveTo>
                  <a:pt x="0" y="0"/>
                </a:moveTo>
                <a:lnTo>
                  <a:pt x="648877" y="0"/>
                </a:lnTo>
                <a:lnTo>
                  <a:pt x="648877" y="648877"/>
                </a:lnTo>
                <a:lnTo>
                  <a:pt x="0" y="6488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5203714" y="9587702"/>
            <a:ext cx="247080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74335" y="1710327"/>
            <a:ext cx="9939330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20"/>
              </a:lnSpc>
            </a:pPr>
            <a:r>
              <a:rPr lang="en-US" sz="5500" b="1">
                <a:solidFill>
                  <a:srgbClr val="201E1E"/>
                </a:solidFill>
                <a:latin typeface="Poppins Bold"/>
                <a:ea typeface="Poppins Bold"/>
                <a:cs typeface="Poppins Bold"/>
                <a:sym typeface="Poppins Bold"/>
              </a:rPr>
              <a:t>Conhecendo nosso público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41009" y="7129568"/>
            <a:ext cx="203536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Estudante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35696" y="6779984"/>
            <a:ext cx="2445992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Pedro, 25 anos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64738" y="7593678"/>
            <a:ext cx="3187907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Jovem aspirante: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Busca eficiência e controle financeiro. Aprecia funcionalidades digitais avançadas e produtos baratos.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84977" y="7129568"/>
            <a:ext cx="203536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Advogada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42707" y="6779984"/>
            <a:ext cx="3519905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Carla, 35 anos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08706" y="7593678"/>
            <a:ext cx="3187907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Mãe trabalhadora: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Precisa otimizar tempo e dinheiro nas compras familiares. Valoriza praticidade e economia.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827823" y="7129568"/>
            <a:ext cx="203536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Aposentado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22511" y="6779984"/>
            <a:ext cx="2445992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Osvaldo, 73 anos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51553" y="7593678"/>
            <a:ext cx="3187907" cy="1250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Avô esquecido: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Tem dificuldade em memorizar lista de compras e dúvidas nos preços, além de dificuldade em se locomover. Estima simplicidade e autonomia.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515658"/>
            <a:ext cx="161715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PoupaAí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4843" y="2234534"/>
            <a:ext cx="5203158" cy="2779614"/>
            <a:chOff x="0" y="0"/>
            <a:chExt cx="3842694" cy="2052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2694" cy="2052832"/>
            </a:xfrm>
            <a:custGeom>
              <a:avLst/>
              <a:gdLst/>
              <a:ahLst/>
              <a:cxnLst/>
              <a:rect l="l" t="t" r="r" b="b"/>
              <a:pathLst>
                <a:path w="3842694" h="2052832">
                  <a:moveTo>
                    <a:pt x="75884" y="0"/>
                  </a:moveTo>
                  <a:lnTo>
                    <a:pt x="3766810" y="0"/>
                  </a:lnTo>
                  <a:cubicBezTo>
                    <a:pt x="3808719" y="0"/>
                    <a:pt x="3842694" y="33975"/>
                    <a:pt x="3842694" y="75884"/>
                  </a:cubicBezTo>
                  <a:lnTo>
                    <a:pt x="3842694" y="1976948"/>
                  </a:lnTo>
                  <a:cubicBezTo>
                    <a:pt x="3842694" y="1997073"/>
                    <a:pt x="3834699" y="2016375"/>
                    <a:pt x="3820468" y="2030606"/>
                  </a:cubicBezTo>
                  <a:cubicBezTo>
                    <a:pt x="3806237" y="2044837"/>
                    <a:pt x="3786936" y="2052832"/>
                    <a:pt x="3766810" y="2052832"/>
                  </a:cubicBezTo>
                  <a:lnTo>
                    <a:pt x="75884" y="2052832"/>
                  </a:lnTo>
                  <a:cubicBezTo>
                    <a:pt x="33975" y="2052832"/>
                    <a:pt x="0" y="2018857"/>
                    <a:pt x="0" y="1976948"/>
                  </a:cubicBezTo>
                  <a:lnTo>
                    <a:pt x="0" y="75884"/>
                  </a:lnTo>
                  <a:cubicBezTo>
                    <a:pt x="0" y="33975"/>
                    <a:pt x="33975" y="0"/>
                    <a:pt x="75884" y="0"/>
                  </a:cubicBezTo>
                  <a:close/>
                </a:path>
              </a:pathLst>
            </a:custGeom>
            <a:solidFill>
              <a:srgbClr val="00372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42694" cy="2090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522472" y="1964401"/>
            <a:ext cx="7127058" cy="10038110"/>
          </a:xfrm>
          <a:custGeom>
            <a:avLst/>
            <a:gdLst/>
            <a:ahLst/>
            <a:cxnLst/>
            <a:rect l="l" t="t" r="r" b="b"/>
            <a:pathLst>
              <a:path w="7127058" h="10038110">
                <a:moveTo>
                  <a:pt x="0" y="0"/>
                </a:moveTo>
                <a:lnTo>
                  <a:pt x="7127058" y="0"/>
                </a:lnTo>
                <a:lnTo>
                  <a:pt x="7127058" y="10038110"/>
                </a:lnTo>
                <a:lnTo>
                  <a:pt x="0" y="1003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88964" y="2592780"/>
            <a:ext cx="374376" cy="269083"/>
          </a:xfrm>
          <a:custGeom>
            <a:avLst/>
            <a:gdLst/>
            <a:ahLst/>
            <a:cxnLst/>
            <a:rect l="l" t="t" r="r" b="b"/>
            <a:pathLst>
              <a:path w="374376" h="269083">
                <a:moveTo>
                  <a:pt x="0" y="0"/>
                </a:moveTo>
                <a:lnTo>
                  <a:pt x="374376" y="0"/>
                </a:lnTo>
                <a:lnTo>
                  <a:pt x="374376" y="269082"/>
                </a:lnTo>
                <a:lnTo>
                  <a:pt x="0" y="2690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88964" y="2962029"/>
            <a:ext cx="4517451" cy="150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  <a:spcBef>
                <a:spcPct val="0"/>
              </a:spcBef>
            </a:pPr>
            <a:r>
              <a:rPr lang="en-US" sz="1684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Preciso de um histórico com os preços dos produtos que costumo consumir para evitar lojas que tenham aumentado os preços repentinamente e buscar produtos substitutos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8964" y="4604339"/>
            <a:ext cx="1556859" cy="13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8"/>
              </a:lnSpc>
              <a:spcBef>
                <a:spcPct val="0"/>
              </a:spcBef>
            </a:pPr>
            <a:r>
              <a:rPr lang="en-US" sz="784">
                <a:solidFill>
                  <a:srgbClr val="BBD106"/>
                </a:solidFill>
                <a:latin typeface="Poppins"/>
                <a:ea typeface="Poppins"/>
                <a:cs typeface="Poppins"/>
                <a:sym typeface="Poppins"/>
              </a:rPr>
              <a:t>OSvaldo, 73 anos</a:t>
            </a:r>
          </a:p>
        </p:txBody>
      </p:sp>
      <p:sp>
        <p:nvSpPr>
          <p:cNvPr id="9" name="Freeform 9"/>
          <p:cNvSpPr/>
          <p:nvPr/>
        </p:nvSpPr>
        <p:spPr>
          <a:xfrm flipH="1" flipV="1">
            <a:off x="1429426" y="2592780"/>
            <a:ext cx="374376" cy="269083"/>
          </a:xfrm>
          <a:custGeom>
            <a:avLst/>
            <a:gdLst/>
            <a:ahLst/>
            <a:cxnLst/>
            <a:rect l="l" t="t" r="r" b="b"/>
            <a:pathLst>
              <a:path w="374376" h="269083">
                <a:moveTo>
                  <a:pt x="374376" y="269082"/>
                </a:moveTo>
                <a:lnTo>
                  <a:pt x="0" y="269082"/>
                </a:lnTo>
                <a:lnTo>
                  <a:pt x="0" y="0"/>
                </a:lnTo>
                <a:lnTo>
                  <a:pt x="374376" y="0"/>
                </a:lnTo>
                <a:lnTo>
                  <a:pt x="374376" y="26908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5400000" flipH="1">
            <a:off x="-3721713" y="8159274"/>
            <a:ext cx="5641167" cy="4779607"/>
          </a:xfrm>
          <a:custGeom>
            <a:avLst/>
            <a:gdLst/>
            <a:ahLst/>
            <a:cxnLst/>
            <a:rect l="l" t="t" r="r" b="b"/>
            <a:pathLst>
              <a:path w="5641167" h="4779607">
                <a:moveTo>
                  <a:pt x="5641167" y="0"/>
                </a:moveTo>
                <a:lnTo>
                  <a:pt x="0" y="0"/>
                </a:lnTo>
                <a:lnTo>
                  <a:pt x="0" y="4779607"/>
                </a:lnTo>
                <a:lnTo>
                  <a:pt x="5641167" y="4779607"/>
                </a:lnTo>
                <a:lnTo>
                  <a:pt x="56411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448240">
            <a:off x="16530095" y="-2022399"/>
            <a:ext cx="5641167" cy="4779607"/>
          </a:xfrm>
          <a:custGeom>
            <a:avLst/>
            <a:gdLst/>
            <a:ahLst/>
            <a:cxnLst/>
            <a:rect l="l" t="t" r="r" b="b"/>
            <a:pathLst>
              <a:path w="5641167" h="4779607">
                <a:moveTo>
                  <a:pt x="0" y="0"/>
                </a:moveTo>
                <a:lnTo>
                  <a:pt x="5641167" y="0"/>
                </a:lnTo>
                <a:lnTo>
                  <a:pt x="5641167" y="4779607"/>
                </a:lnTo>
                <a:lnTo>
                  <a:pt x="0" y="4779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465982" y="2861421"/>
            <a:ext cx="572420" cy="572420"/>
          </a:xfrm>
          <a:custGeom>
            <a:avLst/>
            <a:gdLst/>
            <a:ahLst/>
            <a:cxnLst/>
            <a:rect l="l" t="t" r="r" b="b"/>
            <a:pathLst>
              <a:path w="572420" h="572420">
                <a:moveTo>
                  <a:pt x="0" y="0"/>
                </a:moveTo>
                <a:lnTo>
                  <a:pt x="572420" y="0"/>
                </a:lnTo>
                <a:lnTo>
                  <a:pt x="572420" y="572421"/>
                </a:lnTo>
                <a:lnTo>
                  <a:pt x="0" y="5724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985516" y="7493607"/>
            <a:ext cx="1073914" cy="1073914"/>
          </a:xfrm>
          <a:custGeom>
            <a:avLst/>
            <a:gdLst/>
            <a:ahLst/>
            <a:cxnLst/>
            <a:rect l="l" t="t" r="r" b="b"/>
            <a:pathLst>
              <a:path w="1073914" h="1073914">
                <a:moveTo>
                  <a:pt x="0" y="0"/>
                </a:moveTo>
                <a:lnTo>
                  <a:pt x="1073913" y="0"/>
                </a:lnTo>
                <a:lnTo>
                  <a:pt x="1073913" y="1073914"/>
                </a:lnTo>
                <a:lnTo>
                  <a:pt x="0" y="1073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973090" y="2649628"/>
            <a:ext cx="572420" cy="572420"/>
          </a:xfrm>
          <a:custGeom>
            <a:avLst/>
            <a:gdLst/>
            <a:ahLst/>
            <a:cxnLst/>
            <a:rect l="l" t="t" r="r" b="b"/>
            <a:pathLst>
              <a:path w="572420" h="572420">
                <a:moveTo>
                  <a:pt x="0" y="0"/>
                </a:moveTo>
                <a:lnTo>
                  <a:pt x="572420" y="0"/>
                </a:lnTo>
                <a:lnTo>
                  <a:pt x="572420" y="572420"/>
                </a:lnTo>
                <a:lnTo>
                  <a:pt x="0" y="5724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832158" y="784609"/>
            <a:ext cx="1039833" cy="103983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D10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004031" y="834054"/>
            <a:ext cx="10877273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20"/>
              </a:lnSpc>
            </a:pPr>
            <a:r>
              <a:rPr lang="en-US" sz="5500" b="1">
                <a:solidFill>
                  <a:srgbClr val="201E1E"/>
                </a:solidFill>
                <a:latin typeface="Poppins Bold"/>
                <a:ea typeface="Poppins Bold"/>
                <a:cs typeface="Poppins Bold"/>
                <a:sym typeface="Poppins Bold"/>
              </a:rPr>
              <a:t>Histórias de Nossos Usuários</a:t>
            </a:r>
          </a:p>
        </p:txBody>
      </p:sp>
      <p:sp>
        <p:nvSpPr>
          <p:cNvPr id="19" name="Freeform 19"/>
          <p:cNvSpPr/>
          <p:nvPr/>
        </p:nvSpPr>
        <p:spPr>
          <a:xfrm>
            <a:off x="303623" y="309330"/>
            <a:ext cx="648877" cy="648877"/>
          </a:xfrm>
          <a:custGeom>
            <a:avLst/>
            <a:gdLst/>
            <a:ahLst/>
            <a:cxnLst/>
            <a:rect l="l" t="t" r="r" b="b"/>
            <a:pathLst>
              <a:path w="648877" h="648877">
                <a:moveTo>
                  <a:pt x="0" y="0"/>
                </a:moveTo>
                <a:lnTo>
                  <a:pt x="648877" y="0"/>
                </a:lnTo>
                <a:lnTo>
                  <a:pt x="648877" y="648877"/>
                </a:lnTo>
                <a:lnTo>
                  <a:pt x="0" y="6488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515658"/>
            <a:ext cx="161715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PoupaAí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5324" y="9587702"/>
            <a:ext cx="73417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782358" y="3899746"/>
            <a:ext cx="5203158" cy="2779614"/>
            <a:chOff x="0" y="0"/>
            <a:chExt cx="3842694" cy="205283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42694" cy="2052832"/>
            </a:xfrm>
            <a:custGeom>
              <a:avLst/>
              <a:gdLst/>
              <a:ahLst/>
              <a:cxnLst/>
              <a:rect l="l" t="t" r="r" b="b"/>
              <a:pathLst>
                <a:path w="3842694" h="2052832">
                  <a:moveTo>
                    <a:pt x="75884" y="0"/>
                  </a:moveTo>
                  <a:lnTo>
                    <a:pt x="3766810" y="0"/>
                  </a:lnTo>
                  <a:cubicBezTo>
                    <a:pt x="3808719" y="0"/>
                    <a:pt x="3842694" y="33975"/>
                    <a:pt x="3842694" y="75884"/>
                  </a:cubicBezTo>
                  <a:lnTo>
                    <a:pt x="3842694" y="1976948"/>
                  </a:lnTo>
                  <a:cubicBezTo>
                    <a:pt x="3842694" y="1997073"/>
                    <a:pt x="3834699" y="2016375"/>
                    <a:pt x="3820468" y="2030606"/>
                  </a:cubicBezTo>
                  <a:cubicBezTo>
                    <a:pt x="3806237" y="2044837"/>
                    <a:pt x="3786936" y="2052832"/>
                    <a:pt x="3766810" y="2052832"/>
                  </a:cubicBezTo>
                  <a:lnTo>
                    <a:pt x="75884" y="2052832"/>
                  </a:lnTo>
                  <a:cubicBezTo>
                    <a:pt x="33975" y="2052832"/>
                    <a:pt x="0" y="2018857"/>
                    <a:pt x="0" y="1976948"/>
                  </a:cubicBezTo>
                  <a:lnTo>
                    <a:pt x="0" y="75884"/>
                  </a:lnTo>
                  <a:cubicBezTo>
                    <a:pt x="0" y="33975"/>
                    <a:pt x="33975" y="0"/>
                    <a:pt x="75884" y="0"/>
                  </a:cubicBezTo>
                  <a:close/>
                </a:path>
              </a:pathLst>
            </a:custGeom>
            <a:solidFill>
              <a:srgbClr val="003728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842694" cy="2090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7186479" y="4257991"/>
            <a:ext cx="374376" cy="269083"/>
          </a:xfrm>
          <a:custGeom>
            <a:avLst/>
            <a:gdLst/>
            <a:ahLst/>
            <a:cxnLst/>
            <a:rect l="l" t="t" r="r" b="b"/>
            <a:pathLst>
              <a:path w="374376" h="269083">
                <a:moveTo>
                  <a:pt x="0" y="0"/>
                </a:moveTo>
                <a:lnTo>
                  <a:pt x="374376" y="0"/>
                </a:lnTo>
                <a:lnTo>
                  <a:pt x="374376" y="269083"/>
                </a:lnTo>
                <a:lnTo>
                  <a:pt x="0" y="269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7186479" y="4627241"/>
            <a:ext cx="4517451" cy="150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  <a:spcBef>
                <a:spcPct val="0"/>
              </a:spcBef>
            </a:pPr>
            <a:r>
              <a:rPr lang="en-US" sz="1684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Preciso otimizar meu tempo e saber onde posso encontrar os produtos que preciso comprar para ter mais tempo para realizar minhas tarefas e descansar em casa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86479" y="6269551"/>
            <a:ext cx="1556859" cy="13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8"/>
              </a:lnSpc>
              <a:spcBef>
                <a:spcPct val="0"/>
              </a:spcBef>
            </a:pPr>
            <a:r>
              <a:rPr lang="en-US" sz="784">
                <a:solidFill>
                  <a:srgbClr val="BBD106"/>
                </a:solidFill>
                <a:latin typeface="Poppins"/>
                <a:ea typeface="Poppins"/>
                <a:cs typeface="Poppins"/>
                <a:sym typeface="Poppins"/>
              </a:rPr>
              <a:t>Carla, 35 anos</a:t>
            </a:r>
          </a:p>
        </p:txBody>
      </p:sp>
      <p:sp>
        <p:nvSpPr>
          <p:cNvPr id="28" name="Freeform 28"/>
          <p:cNvSpPr/>
          <p:nvPr/>
        </p:nvSpPr>
        <p:spPr>
          <a:xfrm flipH="1" flipV="1">
            <a:off x="7626941" y="4257991"/>
            <a:ext cx="374376" cy="269083"/>
          </a:xfrm>
          <a:custGeom>
            <a:avLst/>
            <a:gdLst/>
            <a:ahLst/>
            <a:cxnLst/>
            <a:rect l="l" t="t" r="r" b="b"/>
            <a:pathLst>
              <a:path w="374376" h="269083">
                <a:moveTo>
                  <a:pt x="374376" y="269083"/>
                </a:moveTo>
                <a:lnTo>
                  <a:pt x="0" y="269083"/>
                </a:lnTo>
                <a:lnTo>
                  <a:pt x="0" y="0"/>
                </a:lnTo>
                <a:lnTo>
                  <a:pt x="374376" y="0"/>
                </a:lnTo>
                <a:lnTo>
                  <a:pt x="374376" y="2690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575324" y="5925406"/>
            <a:ext cx="5203158" cy="2779614"/>
            <a:chOff x="0" y="0"/>
            <a:chExt cx="3842694" cy="205283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42694" cy="2052832"/>
            </a:xfrm>
            <a:custGeom>
              <a:avLst/>
              <a:gdLst/>
              <a:ahLst/>
              <a:cxnLst/>
              <a:rect l="l" t="t" r="r" b="b"/>
              <a:pathLst>
                <a:path w="3842694" h="2052832">
                  <a:moveTo>
                    <a:pt x="75884" y="0"/>
                  </a:moveTo>
                  <a:lnTo>
                    <a:pt x="3766810" y="0"/>
                  </a:lnTo>
                  <a:cubicBezTo>
                    <a:pt x="3808719" y="0"/>
                    <a:pt x="3842694" y="33975"/>
                    <a:pt x="3842694" y="75884"/>
                  </a:cubicBezTo>
                  <a:lnTo>
                    <a:pt x="3842694" y="1976948"/>
                  </a:lnTo>
                  <a:cubicBezTo>
                    <a:pt x="3842694" y="1997073"/>
                    <a:pt x="3834699" y="2016375"/>
                    <a:pt x="3820468" y="2030606"/>
                  </a:cubicBezTo>
                  <a:cubicBezTo>
                    <a:pt x="3806237" y="2044837"/>
                    <a:pt x="3786936" y="2052832"/>
                    <a:pt x="3766810" y="2052832"/>
                  </a:cubicBezTo>
                  <a:lnTo>
                    <a:pt x="75884" y="2052832"/>
                  </a:lnTo>
                  <a:cubicBezTo>
                    <a:pt x="33975" y="2052832"/>
                    <a:pt x="0" y="2018857"/>
                    <a:pt x="0" y="1976948"/>
                  </a:cubicBezTo>
                  <a:lnTo>
                    <a:pt x="0" y="75884"/>
                  </a:lnTo>
                  <a:cubicBezTo>
                    <a:pt x="0" y="33975"/>
                    <a:pt x="33975" y="0"/>
                    <a:pt x="75884" y="0"/>
                  </a:cubicBezTo>
                  <a:close/>
                </a:path>
              </a:pathLst>
            </a:custGeom>
            <a:solidFill>
              <a:srgbClr val="003728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842694" cy="2090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979444" y="6283651"/>
            <a:ext cx="374376" cy="269083"/>
          </a:xfrm>
          <a:custGeom>
            <a:avLst/>
            <a:gdLst/>
            <a:ahLst/>
            <a:cxnLst/>
            <a:rect l="l" t="t" r="r" b="b"/>
            <a:pathLst>
              <a:path w="374376" h="269083">
                <a:moveTo>
                  <a:pt x="0" y="0"/>
                </a:moveTo>
                <a:lnTo>
                  <a:pt x="374376" y="0"/>
                </a:lnTo>
                <a:lnTo>
                  <a:pt x="374376" y="269083"/>
                </a:lnTo>
                <a:lnTo>
                  <a:pt x="0" y="269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952500" y="6926306"/>
            <a:ext cx="4517451" cy="91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8"/>
              </a:lnSpc>
              <a:spcBef>
                <a:spcPct val="0"/>
              </a:spcBef>
            </a:pPr>
            <a:r>
              <a:rPr lang="en-US" sz="1684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Preciso encontrar os melhores preços para os produtos para ter mais dinheiro para sair com os amigos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9444" y="8295210"/>
            <a:ext cx="1556859" cy="13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8"/>
              </a:lnSpc>
              <a:spcBef>
                <a:spcPct val="0"/>
              </a:spcBef>
            </a:pPr>
            <a:r>
              <a:rPr lang="en-US" sz="784">
                <a:solidFill>
                  <a:srgbClr val="BBD106"/>
                </a:solidFill>
                <a:latin typeface="Poppins"/>
                <a:ea typeface="Poppins"/>
                <a:cs typeface="Poppins"/>
                <a:sym typeface="Poppins"/>
              </a:rPr>
              <a:t>OPedro, 25 anos</a:t>
            </a:r>
          </a:p>
        </p:txBody>
      </p:sp>
      <p:sp>
        <p:nvSpPr>
          <p:cNvPr id="35" name="Freeform 35"/>
          <p:cNvSpPr/>
          <p:nvPr/>
        </p:nvSpPr>
        <p:spPr>
          <a:xfrm flipH="1" flipV="1">
            <a:off x="1419907" y="6283651"/>
            <a:ext cx="374376" cy="269083"/>
          </a:xfrm>
          <a:custGeom>
            <a:avLst/>
            <a:gdLst/>
            <a:ahLst/>
            <a:cxnLst/>
            <a:rect l="l" t="t" r="r" b="b"/>
            <a:pathLst>
              <a:path w="374376" h="269083">
                <a:moveTo>
                  <a:pt x="374376" y="269083"/>
                </a:moveTo>
                <a:lnTo>
                  <a:pt x="0" y="269083"/>
                </a:lnTo>
                <a:lnTo>
                  <a:pt x="0" y="0"/>
                </a:lnTo>
                <a:lnTo>
                  <a:pt x="374376" y="0"/>
                </a:lnTo>
                <a:lnTo>
                  <a:pt x="374376" y="2690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03714" y="9587702"/>
            <a:ext cx="247080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541494" y="3680015"/>
            <a:ext cx="2926982" cy="2926970"/>
            <a:chOff x="0" y="0"/>
            <a:chExt cx="6350000" cy="63499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t="-45542" r="-117873" b="-27395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1769473" y="1402526"/>
            <a:ext cx="2926982" cy="2926970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4882" r="-45070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1769473" y="5957503"/>
            <a:ext cx="2926982" cy="2926970"/>
            <a:chOff x="0" y="0"/>
            <a:chExt cx="6350000" cy="6349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t="-105616" r="-215381" b="-4507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3997451" y="3680015"/>
            <a:ext cx="2926982" cy="2926970"/>
            <a:chOff x="0" y="0"/>
            <a:chExt cx="6350000" cy="63499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14214" t="-71429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1729790" y="3640326"/>
            <a:ext cx="3006348" cy="3006348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214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789651" y="1784985"/>
            <a:ext cx="1039833" cy="103983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D10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99631" y="1882054"/>
            <a:ext cx="7503764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0"/>
              </a:lnSpc>
            </a:pPr>
            <a:r>
              <a:rPr lang="en-US" sz="5500" b="1" dirty="0" err="1">
                <a:solidFill>
                  <a:srgbClr val="201E1E"/>
                </a:solidFill>
                <a:latin typeface="Poppins Bold"/>
                <a:ea typeface="Poppins Bold"/>
                <a:cs typeface="Poppins Bold"/>
                <a:sym typeface="Poppins Bold"/>
              </a:rPr>
              <a:t>Requisitos</a:t>
            </a:r>
            <a:endParaRPr lang="en-US" sz="5500" b="1" dirty="0">
              <a:solidFill>
                <a:srgbClr val="201E1E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999631" y="4807505"/>
            <a:ext cx="2917509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1" lvl="1" indent="-151130" algn="l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Histórico de compras anteriores</a:t>
            </a:r>
          </a:p>
          <a:p>
            <a:pPr marL="302261" lvl="1" indent="-151130" algn="l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Criar, editar e organizar listas</a:t>
            </a:r>
          </a:p>
          <a:p>
            <a:pPr marL="302261" lvl="1" indent="-151130" algn="l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sz="140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Imprimir lista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99631" y="4311735"/>
            <a:ext cx="2343944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Gestão de Listas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64743" y="5149847"/>
            <a:ext cx="2917509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19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Interface </a:t>
            </a:r>
            <a:r>
              <a:rPr lang="en-US" sz="1400" dirty="0" err="1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intuitiva</a:t>
            </a:r>
            <a:r>
              <a:rPr lang="en-US" sz="1400" dirty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1400" dirty="0" err="1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todas</a:t>
            </a:r>
            <a:r>
              <a:rPr lang="en-US" sz="1400" dirty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lang="en-US" sz="1400" dirty="0" err="1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idades</a:t>
            </a:r>
            <a:r>
              <a:rPr lang="en-US" sz="1400" dirty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64743" y="4311735"/>
            <a:ext cx="2343944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Usabilidade e Acessibilidade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99631" y="6999694"/>
            <a:ext cx="2917509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1" lvl="1" indent="-151130" algn="l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Alertas de promoções</a:t>
            </a:r>
          </a:p>
          <a:p>
            <a:pPr marL="302261" lvl="1" indent="-151130" algn="l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sz="140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Localização de melhores preços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99631" y="6155144"/>
            <a:ext cx="2343944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 de Precos</a:t>
            </a:r>
          </a:p>
        </p:txBody>
      </p:sp>
      <p:sp>
        <p:nvSpPr>
          <p:cNvPr id="24" name="Freeform 24"/>
          <p:cNvSpPr/>
          <p:nvPr/>
        </p:nvSpPr>
        <p:spPr>
          <a:xfrm rot="-5400000" flipH="1">
            <a:off x="-3721713" y="8159274"/>
            <a:ext cx="5641167" cy="4779607"/>
          </a:xfrm>
          <a:custGeom>
            <a:avLst/>
            <a:gdLst/>
            <a:ahLst/>
            <a:cxnLst/>
            <a:rect l="l" t="t" r="r" b="b"/>
            <a:pathLst>
              <a:path w="5641167" h="4779607">
                <a:moveTo>
                  <a:pt x="5641167" y="0"/>
                </a:moveTo>
                <a:lnTo>
                  <a:pt x="0" y="0"/>
                </a:lnTo>
                <a:lnTo>
                  <a:pt x="0" y="4779607"/>
                </a:lnTo>
                <a:lnTo>
                  <a:pt x="5641167" y="4779607"/>
                </a:lnTo>
                <a:lnTo>
                  <a:pt x="564116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1448240">
            <a:off x="14215142" y="-3365191"/>
            <a:ext cx="7583245" cy="6425076"/>
          </a:xfrm>
          <a:custGeom>
            <a:avLst/>
            <a:gdLst/>
            <a:ahLst/>
            <a:cxnLst/>
            <a:rect l="l" t="t" r="r" b="b"/>
            <a:pathLst>
              <a:path w="7583245" h="6425076">
                <a:moveTo>
                  <a:pt x="0" y="0"/>
                </a:moveTo>
                <a:lnTo>
                  <a:pt x="7583245" y="0"/>
                </a:lnTo>
                <a:lnTo>
                  <a:pt x="7583245" y="6425077"/>
                </a:lnTo>
                <a:lnTo>
                  <a:pt x="0" y="64250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432565" y="7614646"/>
            <a:ext cx="572420" cy="572420"/>
          </a:xfrm>
          <a:custGeom>
            <a:avLst/>
            <a:gdLst/>
            <a:ahLst/>
            <a:cxnLst/>
            <a:rect l="l" t="t" r="r" b="b"/>
            <a:pathLst>
              <a:path w="572420" h="572420">
                <a:moveTo>
                  <a:pt x="0" y="0"/>
                </a:moveTo>
                <a:lnTo>
                  <a:pt x="572420" y="0"/>
                </a:lnTo>
                <a:lnTo>
                  <a:pt x="572420" y="572421"/>
                </a:lnTo>
                <a:lnTo>
                  <a:pt x="0" y="572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5629905" y="2229114"/>
            <a:ext cx="572420" cy="572420"/>
          </a:xfrm>
          <a:custGeom>
            <a:avLst/>
            <a:gdLst/>
            <a:ahLst/>
            <a:cxnLst/>
            <a:rect l="l" t="t" r="r" b="b"/>
            <a:pathLst>
              <a:path w="572420" h="572420">
                <a:moveTo>
                  <a:pt x="0" y="0"/>
                </a:moveTo>
                <a:lnTo>
                  <a:pt x="572420" y="0"/>
                </a:lnTo>
                <a:lnTo>
                  <a:pt x="572420" y="572420"/>
                </a:lnTo>
                <a:lnTo>
                  <a:pt x="0" y="5724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432565" y="2304901"/>
            <a:ext cx="572420" cy="572420"/>
          </a:xfrm>
          <a:custGeom>
            <a:avLst/>
            <a:gdLst/>
            <a:ahLst/>
            <a:cxnLst/>
            <a:rect l="l" t="t" r="r" b="b"/>
            <a:pathLst>
              <a:path w="572420" h="572420">
                <a:moveTo>
                  <a:pt x="0" y="0"/>
                </a:moveTo>
                <a:lnTo>
                  <a:pt x="572420" y="0"/>
                </a:lnTo>
                <a:lnTo>
                  <a:pt x="572420" y="572420"/>
                </a:lnTo>
                <a:lnTo>
                  <a:pt x="0" y="5724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5460942" y="7442284"/>
            <a:ext cx="572420" cy="572420"/>
          </a:xfrm>
          <a:custGeom>
            <a:avLst/>
            <a:gdLst/>
            <a:ahLst/>
            <a:cxnLst/>
            <a:rect l="l" t="t" r="r" b="b"/>
            <a:pathLst>
              <a:path w="572420" h="572420">
                <a:moveTo>
                  <a:pt x="0" y="0"/>
                </a:moveTo>
                <a:lnTo>
                  <a:pt x="572420" y="0"/>
                </a:lnTo>
                <a:lnTo>
                  <a:pt x="572420" y="572420"/>
                </a:lnTo>
                <a:lnTo>
                  <a:pt x="0" y="5724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5564743" y="6372132"/>
            <a:ext cx="2917509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19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 err="1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Proteção</a:t>
            </a:r>
            <a:r>
              <a:rPr lang="en-US" sz="1400" dirty="0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400" dirty="0" err="1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seus</a:t>
            </a:r>
            <a:r>
              <a:rPr lang="en-US" sz="1400" dirty="0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dados e </a:t>
            </a:r>
            <a:r>
              <a:rPr lang="en-US" sz="1400" dirty="0" err="1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históricos</a:t>
            </a:r>
            <a:endParaRPr lang="en-US" sz="1400" dirty="0">
              <a:solidFill>
                <a:srgbClr val="201E1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564743" y="5876361"/>
            <a:ext cx="2343944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Segurança</a:t>
            </a:r>
          </a:p>
        </p:txBody>
      </p:sp>
      <p:sp>
        <p:nvSpPr>
          <p:cNvPr id="34" name="Freeform 34"/>
          <p:cNvSpPr/>
          <p:nvPr/>
        </p:nvSpPr>
        <p:spPr>
          <a:xfrm>
            <a:off x="303623" y="309330"/>
            <a:ext cx="648877" cy="648877"/>
          </a:xfrm>
          <a:custGeom>
            <a:avLst/>
            <a:gdLst/>
            <a:ahLst/>
            <a:cxnLst/>
            <a:rect l="l" t="t" r="r" b="b"/>
            <a:pathLst>
              <a:path w="648877" h="648877">
                <a:moveTo>
                  <a:pt x="0" y="0"/>
                </a:moveTo>
                <a:lnTo>
                  <a:pt x="648877" y="0"/>
                </a:lnTo>
                <a:lnTo>
                  <a:pt x="648877" y="648877"/>
                </a:lnTo>
                <a:lnTo>
                  <a:pt x="0" y="6488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028700" y="515658"/>
            <a:ext cx="161715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PoupaAí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64743" y="7346691"/>
            <a:ext cx="2917509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19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 err="1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Rapidez</a:t>
            </a:r>
            <a:r>
              <a:rPr lang="en-US" sz="1400" dirty="0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1400" dirty="0" err="1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efetividade</a:t>
            </a:r>
            <a:r>
              <a:rPr lang="en-US" sz="1400" dirty="0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400" dirty="0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atualização</a:t>
            </a:r>
            <a:r>
              <a:rPr lang="en-US" sz="1400" dirty="0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dos </a:t>
            </a:r>
            <a:r>
              <a:rPr lang="en-US" sz="1400" dirty="0" err="1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preços</a:t>
            </a:r>
            <a:endParaRPr lang="en-US" sz="1400" dirty="0">
              <a:solidFill>
                <a:srgbClr val="201E1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564743" y="6850921"/>
            <a:ext cx="2705739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Tempo de resposta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64743" y="8332651"/>
            <a:ext cx="2917509" cy="24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19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Site </a:t>
            </a:r>
            <a:r>
              <a:rPr lang="en-US" sz="1400" dirty="0" err="1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inteiramente</a:t>
            </a:r>
            <a:r>
              <a:rPr lang="en-US" sz="1400" dirty="0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dirty="0" err="1" smtClean="0">
                <a:solidFill>
                  <a:srgbClr val="201E1E"/>
                </a:solidFill>
                <a:latin typeface="Poppins"/>
                <a:ea typeface="Poppins"/>
                <a:cs typeface="Poppins"/>
                <a:sym typeface="Poppins"/>
              </a:rPr>
              <a:t>responsivo</a:t>
            </a:r>
            <a:endParaRPr lang="en-US" sz="1400" dirty="0">
              <a:solidFill>
                <a:srgbClr val="201E1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564743" y="7836881"/>
            <a:ext cx="2705739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Responsividade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93275" flipH="1">
            <a:off x="-2764734" y="2537659"/>
            <a:ext cx="12609494" cy="10683680"/>
          </a:xfrm>
          <a:custGeom>
            <a:avLst/>
            <a:gdLst/>
            <a:ahLst/>
            <a:cxnLst/>
            <a:rect l="l" t="t" r="r" b="b"/>
            <a:pathLst>
              <a:path w="12609494" h="10683680">
                <a:moveTo>
                  <a:pt x="12609494" y="0"/>
                </a:moveTo>
                <a:lnTo>
                  <a:pt x="0" y="0"/>
                </a:lnTo>
                <a:lnTo>
                  <a:pt x="0" y="10683680"/>
                </a:lnTo>
                <a:lnTo>
                  <a:pt x="12609494" y="10683680"/>
                </a:lnTo>
                <a:lnTo>
                  <a:pt x="126094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80624" y="463729"/>
            <a:ext cx="1039833" cy="103983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D10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265390" y="1733522"/>
            <a:ext cx="2535947" cy="688390"/>
            <a:chOff x="0" y="0"/>
            <a:chExt cx="1497129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97129" cy="406400"/>
            </a:xfrm>
            <a:custGeom>
              <a:avLst/>
              <a:gdLst/>
              <a:ahLst/>
              <a:cxnLst/>
              <a:rect l="l" t="t" r="r" b="b"/>
              <a:pathLst>
                <a:path w="1497129" h="406400">
                  <a:moveTo>
                    <a:pt x="1293929" y="0"/>
                  </a:moveTo>
                  <a:cubicBezTo>
                    <a:pt x="1406154" y="0"/>
                    <a:pt x="1497129" y="90976"/>
                    <a:pt x="1497129" y="203200"/>
                  </a:cubicBezTo>
                  <a:cubicBezTo>
                    <a:pt x="1497129" y="315424"/>
                    <a:pt x="1406154" y="406400"/>
                    <a:pt x="129392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9712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008453" y="522699"/>
            <a:ext cx="8598923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0"/>
              </a:lnSpc>
            </a:pPr>
            <a:r>
              <a:rPr lang="en-US" sz="5500" b="1">
                <a:solidFill>
                  <a:srgbClr val="201E1E"/>
                </a:solidFill>
                <a:latin typeface="Poppins Bold"/>
                <a:ea typeface="Poppins Bold"/>
                <a:cs typeface="Poppins Bold"/>
                <a:sym typeface="Poppins Bold"/>
              </a:rPr>
              <a:t>Projeto da Interface</a:t>
            </a:r>
          </a:p>
        </p:txBody>
      </p:sp>
      <p:sp>
        <p:nvSpPr>
          <p:cNvPr id="10" name="Freeform 10"/>
          <p:cNvSpPr/>
          <p:nvPr/>
        </p:nvSpPr>
        <p:spPr>
          <a:xfrm rot="1448240">
            <a:off x="16530095" y="-2022399"/>
            <a:ext cx="5641167" cy="4779607"/>
          </a:xfrm>
          <a:custGeom>
            <a:avLst/>
            <a:gdLst/>
            <a:ahLst/>
            <a:cxnLst/>
            <a:rect l="l" t="t" r="r" b="b"/>
            <a:pathLst>
              <a:path w="5641167" h="4779607">
                <a:moveTo>
                  <a:pt x="0" y="0"/>
                </a:moveTo>
                <a:lnTo>
                  <a:pt x="5641167" y="0"/>
                </a:lnTo>
                <a:lnTo>
                  <a:pt x="5641167" y="4779607"/>
                </a:lnTo>
                <a:lnTo>
                  <a:pt x="0" y="4779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645852" y="1102313"/>
            <a:ext cx="572420" cy="572420"/>
          </a:xfrm>
          <a:custGeom>
            <a:avLst/>
            <a:gdLst/>
            <a:ahLst/>
            <a:cxnLst/>
            <a:rect l="l" t="t" r="r" b="b"/>
            <a:pathLst>
              <a:path w="572420" h="572420">
                <a:moveTo>
                  <a:pt x="0" y="0"/>
                </a:moveTo>
                <a:lnTo>
                  <a:pt x="572420" y="0"/>
                </a:lnTo>
                <a:lnTo>
                  <a:pt x="572420" y="572420"/>
                </a:lnTo>
                <a:lnTo>
                  <a:pt x="0" y="5724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646543" y="9079320"/>
            <a:ext cx="1073914" cy="1073914"/>
          </a:xfrm>
          <a:custGeom>
            <a:avLst/>
            <a:gdLst/>
            <a:ahLst/>
            <a:cxnLst/>
            <a:rect l="l" t="t" r="r" b="b"/>
            <a:pathLst>
              <a:path w="1073914" h="1073914">
                <a:moveTo>
                  <a:pt x="0" y="0"/>
                </a:moveTo>
                <a:lnTo>
                  <a:pt x="1073913" y="0"/>
                </a:lnTo>
                <a:lnTo>
                  <a:pt x="1073913" y="1073914"/>
                </a:lnTo>
                <a:lnTo>
                  <a:pt x="0" y="1073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8700" y="8685813"/>
            <a:ext cx="572420" cy="572420"/>
          </a:xfrm>
          <a:custGeom>
            <a:avLst/>
            <a:gdLst/>
            <a:ahLst/>
            <a:cxnLst/>
            <a:rect l="l" t="t" r="r" b="b"/>
            <a:pathLst>
              <a:path w="572420" h="572420">
                <a:moveTo>
                  <a:pt x="0" y="0"/>
                </a:moveTo>
                <a:lnTo>
                  <a:pt x="572420" y="0"/>
                </a:lnTo>
                <a:lnTo>
                  <a:pt x="572420" y="572420"/>
                </a:lnTo>
                <a:lnTo>
                  <a:pt x="0" y="5724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5203714" y="9587702"/>
            <a:ext cx="247080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33092" y="1892573"/>
            <a:ext cx="3200543" cy="32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</a:pPr>
            <a:r>
              <a:rPr lang="en-US" sz="2108" b="1" dirty="0" smtClean="0">
                <a:solidFill>
                  <a:srgbClr val="003728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COMPARAÇÃO</a:t>
            </a:r>
            <a:endParaRPr lang="en-US" sz="2108" b="1" dirty="0">
              <a:solidFill>
                <a:srgbClr val="003728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1360998" y="1733522"/>
            <a:ext cx="2535947" cy="688390"/>
            <a:chOff x="0" y="0"/>
            <a:chExt cx="1497129" cy="406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97129" cy="406400"/>
            </a:xfrm>
            <a:custGeom>
              <a:avLst/>
              <a:gdLst/>
              <a:ahLst/>
              <a:cxnLst/>
              <a:rect l="l" t="t" r="r" b="b"/>
              <a:pathLst>
                <a:path w="1497129" h="406400">
                  <a:moveTo>
                    <a:pt x="1293929" y="0"/>
                  </a:moveTo>
                  <a:cubicBezTo>
                    <a:pt x="1406154" y="0"/>
                    <a:pt x="1497129" y="90976"/>
                    <a:pt x="1497129" y="203200"/>
                  </a:cubicBezTo>
                  <a:cubicBezTo>
                    <a:pt x="1497129" y="315424"/>
                    <a:pt x="1406154" y="406400"/>
                    <a:pt x="129392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49712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28700" y="1892573"/>
            <a:ext cx="3200543" cy="32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</a:pPr>
            <a:r>
              <a:rPr lang="en-US" sz="2108" b="1" dirty="0" smtClean="0">
                <a:solidFill>
                  <a:srgbClr val="003728"/>
                </a:solidFill>
                <a:latin typeface="Poppins Bold"/>
                <a:ea typeface="Poppins Bold"/>
                <a:cs typeface="Poppins Bold"/>
                <a:sym typeface="Poppins Bold"/>
              </a:rPr>
              <a:t>LOGIN</a:t>
            </a:r>
          </a:p>
        </p:txBody>
      </p:sp>
      <p:sp>
        <p:nvSpPr>
          <p:cNvPr id="40" name="Freeform 40"/>
          <p:cNvSpPr/>
          <p:nvPr/>
        </p:nvSpPr>
        <p:spPr>
          <a:xfrm>
            <a:off x="303623" y="309330"/>
            <a:ext cx="648877" cy="648877"/>
          </a:xfrm>
          <a:custGeom>
            <a:avLst/>
            <a:gdLst/>
            <a:ahLst/>
            <a:cxnLst/>
            <a:rect l="l" t="t" r="r" b="b"/>
            <a:pathLst>
              <a:path w="648877" h="648877">
                <a:moveTo>
                  <a:pt x="0" y="0"/>
                </a:moveTo>
                <a:lnTo>
                  <a:pt x="648877" y="0"/>
                </a:lnTo>
                <a:lnTo>
                  <a:pt x="648877" y="648877"/>
                </a:lnTo>
                <a:lnTo>
                  <a:pt x="0" y="6488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028700" y="515658"/>
            <a:ext cx="161715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PoupaAí</a:t>
            </a: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718" y="2906275"/>
            <a:ext cx="3178147" cy="6881747"/>
          </a:xfrm>
          <a:prstGeom prst="rect">
            <a:avLst/>
          </a:prstGeom>
        </p:spPr>
      </p:pic>
      <p:pic>
        <p:nvPicPr>
          <p:cNvPr id="43" name="Imagem 4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83" y="2850710"/>
            <a:ext cx="3292716" cy="6944637"/>
          </a:xfrm>
          <a:prstGeom prst="rect">
            <a:avLst/>
          </a:prstGeom>
        </p:spPr>
      </p:pic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712271" y="2651873"/>
            <a:ext cx="3705480" cy="7330134"/>
            <a:chOff x="0" y="0"/>
            <a:chExt cx="2620010" cy="518287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pic>
        <p:nvPicPr>
          <p:cNvPr id="44" name="Imagem 4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996" y="2873419"/>
            <a:ext cx="3145014" cy="6810002"/>
          </a:xfrm>
          <a:prstGeom prst="rect">
            <a:avLst/>
          </a:prstGeom>
        </p:spPr>
      </p:pic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4680624" y="2651873"/>
            <a:ext cx="3705480" cy="7330134"/>
            <a:chOff x="0" y="0"/>
            <a:chExt cx="2620010" cy="5182870"/>
          </a:xfrm>
        </p:grpSpPr>
        <p:sp>
          <p:nvSpPr>
            <p:cNvPr id="25" name="Freeform 2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349953">
            <a:off x="9622885" y="-4313140"/>
            <a:ext cx="12609494" cy="10683680"/>
          </a:xfrm>
          <a:custGeom>
            <a:avLst/>
            <a:gdLst/>
            <a:ahLst/>
            <a:cxnLst/>
            <a:rect l="l" t="t" r="r" b="b"/>
            <a:pathLst>
              <a:path w="12609494" h="10683680">
                <a:moveTo>
                  <a:pt x="0" y="0"/>
                </a:moveTo>
                <a:lnTo>
                  <a:pt x="12609494" y="0"/>
                </a:lnTo>
                <a:lnTo>
                  <a:pt x="12609494" y="10683680"/>
                </a:lnTo>
                <a:lnTo>
                  <a:pt x="0" y="10683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529912" y="1212439"/>
            <a:ext cx="12423899" cy="12671128"/>
            <a:chOff x="0" y="0"/>
            <a:chExt cx="6062980" cy="6183630"/>
          </a:xfrm>
        </p:grpSpPr>
        <p:sp>
          <p:nvSpPr>
            <p:cNvPr id="4" name="Freeform 4"/>
            <p:cNvSpPr/>
            <p:nvPr/>
          </p:nvSpPr>
          <p:spPr>
            <a:xfrm>
              <a:off x="-257810" y="-427990"/>
              <a:ext cx="6739890" cy="7203440"/>
            </a:xfrm>
            <a:custGeom>
              <a:avLst/>
              <a:gdLst/>
              <a:ahLst/>
              <a:cxnLst/>
              <a:rect l="l" t="t" r="r" b="b"/>
              <a:pathLst>
                <a:path w="6739890" h="7203440">
                  <a:moveTo>
                    <a:pt x="3602990" y="1123950"/>
                  </a:moveTo>
                  <a:cubicBezTo>
                    <a:pt x="3155950" y="1784350"/>
                    <a:pt x="3209290" y="2346960"/>
                    <a:pt x="2705100" y="2646680"/>
                  </a:cubicBezTo>
                  <a:cubicBezTo>
                    <a:pt x="1689100" y="3252470"/>
                    <a:pt x="647700" y="2674620"/>
                    <a:pt x="327660" y="3713480"/>
                  </a:cubicBezTo>
                  <a:cubicBezTo>
                    <a:pt x="0" y="4777740"/>
                    <a:pt x="839470" y="5806440"/>
                    <a:pt x="2597150" y="6450330"/>
                  </a:cubicBezTo>
                  <a:cubicBezTo>
                    <a:pt x="4646930" y="7203440"/>
                    <a:pt x="6739890" y="5153660"/>
                    <a:pt x="6248400" y="3628390"/>
                  </a:cubicBezTo>
                  <a:cubicBezTo>
                    <a:pt x="5842000" y="2364740"/>
                    <a:pt x="6545580" y="1811020"/>
                    <a:pt x="6122670" y="1123950"/>
                  </a:cubicBezTo>
                  <a:cubicBezTo>
                    <a:pt x="5429250" y="0"/>
                    <a:pt x="4081780" y="415290"/>
                    <a:pt x="3602990" y="1123950"/>
                  </a:cubicBezTo>
                  <a:close/>
                </a:path>
              </a:pathLst>
            </a:custGeom>
            <a:blipFill>
              <a:blip r:embed="rId4"/>
              <a:stretch>
                <a:fillRect l="-29191" r="-23878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-5400000" flipH="1">
            <a:off x="-3721713" y="8159274"/>
            <a:ext cx="5641167" cy="4779607"/>
          </a:xfrm>
          <a:custGeom>
            <a:avLst/>
            <a:gdLst/>
            <a:ahLst/>
            <a:cxnLst/>
            <a:rect l="l" t="t" r="r" b="b"/>
            <a:pathLst>
              <a:path w="5641167" h="4779607">
                <a:moveTo>
                  <a:pt x="5641167" y="0"/>
                </a:moveTo>
                <a:lnTo>
                  <a:pt x="0" y="0"/>
                </a:lnTo>
                <a:lnTo>
                  <a:pt x="0" y="4779607"/>
                </a:lnTo>
                <a:lnTo>
                  <a:pt x="5641167" y="4779607"/>
                </a:lnTo>
                <a:lnTo>
                  <a:pt x="56411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791584" y="4723940"/>
            <a:ext cx="572420" cy="572420"/>
          </a:xfrm>
          <a:custGeom>
            <a:avLst/>
            <a:gdLst/>
            <a:ahLst/>
            <a:cxnLst/>
            <a:rect l="l" t="t" r="r" b="b"/>
            <a:pathLst>
              <a:path w="572420" h="572420">
                <a:moveTo>
                  <a:pt x="0" y="0"/>
                </a:moveTo>
                <a:lnTo>
                  <a:pt x="572420" y="0"/>
                </a:lnTo>
                <a:lnTo>
                  <a:pt x="572420" y="572420"/>
                </a:lnTo>
                <a:lnTo>
                  <a:pt x="0" y="5724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837276" y="2026996"/>
            <a:ext cx="1039833" cy="103983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D10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47256" y="2047866"/>
            <a:ext cx="9073300" cy="188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26"/>
              </a:lnSpc>
            </a:pPr>
            <a:r>
              <a:rPr lang="en-US" sz="11473" b="1">
                <a:solidFill>
                  <a:srgbClr val="201E1E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Obrigado!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364004" y="1219660"/>
            <a:ext cx="1073914" cy="1073914"/>
          </a:xfrm>
          <a:custGeom>
            <a:avLst/>
            <a:gdLst/>
            <a:ahLst/>
            <a:cxnLst/>
            <a:rect l="l" t="t" r="r" b="b"/>
            <a:pathLst>
              <a:path w="1073914" h="1073914">
                <a:moveTo>
                  <a:pt x="0" y="0"/>
                </a:moveTo>
                <a:lnTo>
                  <a:pt x="1073914" y="0"/>
                </a:lnTo>
                <a:lnTo>
                  <a:pt x="1073914" y="1073914"/>
                </a:lnTo>
                <a:lnTo>
                  <a:pt x="0" y="1073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45542" y="1028700"/>
            <a:ext cx="572420" cy="572420"/>
          </a:xfrm>
          <a:custGeom>
            <a:avLst/>
            <a:gdLst/>
            <a:ahLst/>
            <a:cxnLst/>
            <a:rect l="l" t="t" r="r" b="b"/>
            <a:pathLst>
              <a:path w="572420" h="572420">
                <a:moveTo>
                  <a:pt x="0" y="0"/>
                </a:moveTo>
                <a:lnTo>
                  <a:pt x="572420" y="0"/>
                </a:lnTo>
                <a:lnTo>
                  <a:pt x="572420" y="572420"/>
                </a:lnTo>
                <a:lnTo>
                  <a:pt x="0" y="5724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8289052" y="3482733"/>
            <a:ext cx="2334090" cy="233409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43959" y="6405233"/>
            <a:ext cx="5473358" cy="375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9"/>
              </a:lnSpc>
              <a:spcBef>
                <a:spcPct val="0"/>
              </a:spcBef>
            </a:pPr>
            <a:r>
              <a:rPr lang="en-US" sz="2078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Em breve, disponível para acesso.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3959" y="5285093"/>
            <a:ext cx="5683081" cy="84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3728"/>
                </a:solidFill>
                <a:latin typeface="Poppins Bold"/>
                <a:ea typeface="Poppins Bold"/>
                <a:cs typeface="Poppins Bold"/>
                <a:sym typeface="Poppins Bold"/>
              </a:rPr>
              <a:t>Poupa</a:t>
            </a:r>
            <a:r>
              <a:rPr lang="en-US" sz="2399" b="1">
                <a:solidFill>
                  <a:srgbClr val="BBD106"/>
                </a:solidFill>
                <a:latin typeface="Poppins Bold"/>
                <a:ea typeface="Poppins Bold"/>
                <a:cs typeface="Poppins Bold"/>
                <a:sym typeface="Poppins Bold"/>
              </a:rPr>
              <a:t>Aí</a:t>
            </a: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-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Sua jornada de compras mais inteligente começa aqui.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0937" y="4552314"/>
            <a:ext cx="5709493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i="1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Compre inteligente, viva melhor! </a:t>
            </a:r>
          </a:p>
        </p:txBody>
      </p:sp>
      <p:sp>
        <p:nvSpPr>
          <p:cNvPr id="19" name="Freeform 19"/>
          <p:cNvSpPr/>
          <p:nvPr/>
        </p:nvSpPr>
        <p:spPr>
          <a:xfrm>
            <a:off x="303623" y="309330"/>
            <a:ext cx="648877" cy="648877"/>
          </a:xfrm>
          <a:custGeom>
            <a:avLst/>
            <a:gdLst/>
            <a:ahLst/>
            <a:cxnLst/>
            <a:rect l="l" t="t" r="r" b="b"/>
            <a:pathLst>
              <a:path w="648877" h="648877">
                <a:moveTo>
                  <a:pt x="0" y="0"/>
                </a:moveTo>
                <a:lnTo>
                  <a:pt x="648877" y="0"/>
                </a:lnTo>
                <a:lnTo>
                  <a:pt x="648877" y="648877"/>
                </a:lnTo>
                <a:lnTo>
                  <a:pt x="0" y="6488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515658"/>
            <a:ext cx="161715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PoupaAí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5324" y="9587702"/>
            <a:ext cx="73417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344</Words>
  <Application>Microsoft Office PowerPoint</Application>
  <PresentationFormat>Personalizar</PresentationFormat>
  <Paragraphs>72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5" baseType="lpstr">
      <vt:lpstr>Arial</vt:lpstr>
      <vt:lpstr>Poppins</vt:lpstr>
      <vt:lpstr>Poppins Italics</vt:lpstr>
      <vt:lpstr>Poppins Bold Italics</vt:lpstr>
      <vt:lpstr>Calibri</vt:lpstr>
      <vt:lpstr>Poppins Ultra-Bold</vt:lpstr>
      <vt:lpstr>Poppins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Poupa Aí</dc:title>
  <cp:lastModifiedBy>Bernardo</cp:lastModifiedBy>
  <cp:revision>7</cp:revision>
  <dcterms:created xsi:type="dcterms:W3CDTF">2006-08-16T00:00:00Z</dcterms:created>
  <dcterms:modified xsi:type="dcterms:W3CDTF">2025-09-23T23:04:55Z</dcterms:modified>
  <dc:identifier>DAGzkojQVuQ</dc:identifier>
</cp:coreProperties>
</file>